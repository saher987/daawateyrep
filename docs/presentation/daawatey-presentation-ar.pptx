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71C26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71C26"/>
                </a:solidFill>
                <a:latin typeface="Arial"/>
              </a:rPr>
              <a:t>ملخص الردود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الردود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8B57"/>
              </a:solidFill>
              <a:effectLst/>
            </c:spPr>
          </c:dPt>
          <c:dPt>
            <c:idx val="1"/>
            <c:bubble3D val="0"/>
            <c:spPr>
              <a:solidFill>
                <a:srgbClr val="B5473A"/>
              </a:solidFill>
              <a:effectLst/>
            </c:spPr>
          </c:dPt>
          <c:dPt>
            <c:idx val="2"/>
            <c:bubble3D val="0"/>
            <c:spPr>
              <a:solidFill>
                <a:srgbClr val="C98A1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مؤكد الحضور</c:v>
                </c:pt>
                <c:pt idx="1">
                  <c:v>اعتذر</c:v>
                </c:pt>
                <c:pt idx="2">
                  <c:v>بانتظار الرد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180</c:v>
                </c:pt>
                <c:pt idx="1">
                  <c:v>15</c:v>
                </c:pt>
                <c:pt idx="2">
                  <c:v>55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E2330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أهلاً وسهلاً. اليوم سنتعرف على تطبيق دعوتي، الذي ستديرون من خلاله دعوات مناسبتكم عندنا في القاعة. (قبل العرض: استبدلوا [اسم القاعة] باسم قاعتكم.)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نظرة عامة على المسار كله. في الشرائح التالية سنمر على كل خطوة بالتفصيل.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صاحب المناسبة لا يحتاج أن يفهم بالتكنولوجيا: يحمّل التطبيق، يسجل، ويضغط على «طلب فتح مناسبة». الأهم: أن يجهز قائمة المدعوين مع أرقام الهواتف، لأن الدعوة تُرسل لكل واحد عبر 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هنا تدخل كل المعلومات: تفاصيل المناسبة، صورة الدعوة كما صممها صاحب المناسبة، وقائمة المدعوين. يمكن إضافة مدعوين في أي وقت، حتى بعد الإرسال.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بعد تجهيز المناسبة، النظام يرسل رسالة SMS لكل مدعو مع رابط شخصي. ومن عنده التطبيق يحصل أيضاً على إشعار. نص الرسالة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ما يراه المدعو. الأمر بسيط حتى لكبار السن: ضغطة على الرابط، ثم ضغطة على «حاضر» أو «اعتذر». الرد يصل فوراً لصاحب المناسبة.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يحمّل التطبيق يرى في صفحة «دعواتي» كل المناسبات التي دُعي إليها. الشرط الوحيد: التسجيل بنفس رقم الهاتف الذي وصلت إليه الدعوة.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أهم شاشة لصاحب المناسبة: كم أكدوا الحضور، كم اعتذروا، ومن لم يرد بعد – وكلها تتحدث تلقائياً. ومن هنا يُصدَّر تقرير Excel نعتمد عليه في القاعة للعدد النهائي وترتيب الطاولات. (الملف بصيغة CSV ويفتح مباشرة في Excel.)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الشاشة لأصحاب القاعات: تقويم يبين الأيام المحجوزة باللون الذهبي والأيام المتاحة بالأبيض. التواريخ في الصورة للتوضيح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صاحب قاعة لديه صفحة خاصة بقاعته مع كل التفاصيل. الأرقام والتفاصيل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ملخص سريع للصلاحيات. صاحب المناسبة يرى الإحصائيات لمناسبته فقط، وصاحب القاعة يرى قاعته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اتركوا هذه الشريحة على الشاشة وقت الأسئلة، حتى يتمكن الجميع من مسح الرمز وتحميل التطبيق.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206240"/>
            <a:ext cx="4114800" cy="41148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502920"/>
            <a:ext cx="1097280" cy="10972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6573" y="788213"/>
            <a:ext cx="526694" cy="5266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دعوتي · Daawatey</a:t>
            </a:r>
            <a:endParaRPr lang="ar-SA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نستخدم تطبيق دعوتي؟</a:t>
            </a:r>
            <a:endParaRPr lang="ar-SA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C9C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طلب فتح المناسبة… حتى تأكيد حضور آخر ضيف</a:t>
            </a:r>
            <a:endParaRPr lang="ar-SA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مقدَّم من: [اسم القاعة]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الصورة الكاملة: 5 خطوات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هكذا تسير المناسبة في التطبيق من البداية حتى النهاية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9624060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78440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7844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081260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6553" y="2891333"/>
            <a:ext cx="526694" cy="52669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66978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فتح مناسبة</a:t>
            </a:r>
            <a:endParaRPr lang="ar-SA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761220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المناسبة يطلب ويسلّم التفاصيل وقائمة المدعوين</a:t>
            </a:r>
            <a:endParaRPr lang="ar-SA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60" y="3063240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56348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110728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10728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813548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841" y="2891333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02068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المناسبة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93508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التفاصيل، صورة الدعوة المصممة، والمدعوين</a:t>
            </a:r>
            <a:endParaRPr lang="ar-SA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748" y="3063240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088636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843016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843016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545836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129" y="2891333"/>
            <a:ext cx="526694" cy="52669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134356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إرسال الدعوات</a:t>
            </a:r>
            <a:endParaRPr lang="ar-SA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5225796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SMS مع رابط شخصي لكل مدعو</a:t>
            </a:r>
            <a:endParaRPr lang="ar-SA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36" y="3063240"/>
            <a:ext cx="201168" cy="201168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2820924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3575304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575304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3278124" y="2606040"/>
            <a:ext cx="1097280" cy="10972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3417" y="2891333"/>
            <a:ext cx="526694" cy="52669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866644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المدعو يرد</a:t>
            </a:r>
            <a:endParaRPr lang="ar-SA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2958084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يفتح الدعوة ويؤكد: حاضر أو معتذر</a:t>
            </a:r>
            <a:endParaRPr lang="ar-SA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2324" y="3063240"/>
            <a:ext cx="201168" cy="201168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53212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1307592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1307592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9" name="Shape 29"/>
          <p:cNvSpPr/>
          <p:nvPr/>
        </p:nvSpPr>
        <p:spPr>
          <a:xfrm>
            <a:off x="1010412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705" y="2891333"/>
            <a:ext cx="526694" cy="526694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598932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متابعة وتقرير</a:t>
            </a:r>
            <a:endParaRPr lang="ar-SA" sz="1600" dirty="0"/>
          </a:p>
        </p:txBody>
      </p:sp>
      <p:sp>
        <p:nvSpPr>
          <p:cNvPr id="42" name="Text 31"/>
          <p:cNvSpPr txBox="1"/>
          <p:nvPr/>
        </p:nvSpPr>
        <p:spPr>
          <a:xfrm>
            <a:off x="690372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مباشرة وتصدير القائمة إلى Excel</a:t>
            </a:r>
            <a:endParaRPr lang="ar-SA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1: صاحب المناسبة يطلب فتح مناسبة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داخل التطبيق: صفحة «دعواتي» ← زر «طلب فتح مناسبة»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4937760" y="182880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07040" y="202996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1010" y="2243938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257800" y="2011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يحمّل التطبيق ويسجّل</a:t>
            </a:r>
            <a:endParaRPr lang="ar-SA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24871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برمز SMS على الهاتف، أو بحساب Google / Apple</a:t>
            </a:r>
            <a:endParaRPr lang="ar-SA" sz="1500" dirty="0"/>
          </a:p>
        </p:txBody>
      </p:sp>
      <p:sp>
        <p:nvSpPr>
          <p:cNvPr id="9" name="Shape 6"/>
          <p:cNvSpPr/>
          <p:nvPr/>
        </p:nvSpPr>
        <p:spPr>
          <a:xfrm>
            <a:off x="4937760" y="329184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607040" y="349300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010" y="3706978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3474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يكمل الملف الشخصي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257800" y="39502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الاسم، البلد، ورقم الهاتف – بنفس الرقم الذي أعطاه للقاعة</a:t>
            </a:r>
            <a:endParaRPr lang="ar-SA" sz="1500" dirty="0"/>
          </a:p>
        </p:txBody>
      </p:sp>
      <p:sp>
        <p:nvSpPr>
          <p:cNvPr id="14" name="Shape 10"/>
          <p:cNvSpPr/>
          <p:nvPr/>
        </p:nvSpPr>
        <p:spPr>
          <a:xfrm>
            <a:off x="4937760" y="475488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607040" y="495604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1010" y="5170018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57800" y="4937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يضغط «طلب فتح مناسبة»</a:t>
            </a:r>
            <a:endParaRPr lang="ar-SA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541324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يكتب اسم المناسبة والتفاصيل ورقم هاتف للتواصل، ونحن نتواصل معه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1828800"/>
            <a:ext cx="4114800" cy="4160520"/>
          </a:xfrm>
          <a:prstGeom prst="roundRect">
            <a:avLst>
              <a:gd name="adj" fmla="val 3333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2057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يجهّز صاحب المناسبة؟</a:t>
            </a:r>
            <a:endParaRPr lang="ar-SA" sz="1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7889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" y="2743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المناسبة: الاسم، النوع، التاريخ والساعة</a:t>
            </a:r>
            <a:endParaRPr lang="ar-SA" sz="15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356616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2960" y="35204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القاعة والعنوان</a:t>
            </a:r>
            <a:endParaRPr lang="ar-SA" sz="15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434340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22960" y="42976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</a:t>
            </a:r>
            <a:endParaRPr lang="ar-SA" sz="15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512064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22960" y="50749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المدعوين: الاسم + رقم الهاتف لكل مدعو</a:t>
            </a:r>
            <a:endParaRPr lang="ar-SA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2: تجهيز المناسبة في النظام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تُدخل التفاصيل والصورة والمدعوين – وتصبح المناسبة جاهزة للإرسال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8119872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1282" y="231709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94192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المناسبة</a:t>
            </a:r>
            <a:endParaRPr lang="ar-SA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المناسبة ونوعها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التاريخ والساعة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القاعة والعنوان ورابط الخريطة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أسماء العريس والعروس / المضيف</a:t>
            </a:r>
            <a:endParaRPr lang="ar-SA" sz="1500" dirty="0"/>
          </a:p>
        </p:txBody>
      </p:sp>
      <p:sp>
        <p:nvSpPr>
          <p:cNvPr id="9" name="Shape 6"/>
          <p:cNvSpPr/>
          <p:nvPr/>
        </p:nvSpPr>
        <p:spPr>
          <a:xfrm>
            <a:off x="4334256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11696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5666" y="231709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08576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</a:t>
            </a:r>
            <a:endParaRPr lang="ar-SA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صورة بطاقة الدعوة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نص الدعوة الذي يظهر في الرسالة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هكذا يراها كل مدعو عند فتح الرابط</a:t>
            </a:r>
            <a:endParaRPr lang="ar-SA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926080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050" y="231709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المدعوين</a:t>
            </a:r>
            <a:endParaRPr lang="ar-SA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ورقم الهاتف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عدد الضيوف المتوقع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مجموعة: أهل العريس، أهل العروس، أصدقاء…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3: النظام يرسل الدعوات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234440"/>
            <a:ext cx="2834640" cy="5349240"/>
          </a:xfrm>
          <a:prstGeom prst="roundRect">
            <a:avLst>
              <a:gd name="adj" fmla="val 11290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41832" y="1581912"/>
            <a:ext cx="2596896" cy="4782312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36245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73352"/>
            <a:ext cx="259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رسائل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1078992" y="2130552"/>
            <a:ext cx="2185416" cy="2103120"/>
          </a:xfrm>
          <a:prstGeom prst="roundRect">
            <a:avLst>
              <a:gd name="adj" fmla="val 652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97864" y="2240280"/>
            <a:ext cx="1956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عائلة أحمد تتشرف بدعوتكم لحفل زفاف ابنها</a:t>
            </a:r>
            <a:endParaRPr lang="ar-SA" sz="1200" dirty="0"/>
          </a:p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لفتح الدعوة وتأكيد الحضور:</a:t>
            </a:r>
            <a:endParaRPr lang="ar-SA" sz="1200" dirty="0"/>
          </a:p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b="1" dirty="0">
                <a:solidFill>
                  <a:srgbClr val="1A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daawatey.com/i/…</a:t>
            </a:r>
            <a:endParaRPr lang="ar-SA" sz="1200" dirty="0"/>
          </a:p>
        </p:txBody>
      </p:sp>
      <p:sp>
        <p:nvSpPr>
          <p:cNvPr id="9" name="Shape 7"/>
          <p:cNvSpPr/>
          <p:nvPr/>
        </p:nvSpPr>
        <p:spPr>
          <a:xfrm>
            <a:off x="1033272" y="4553712"/>
            <a:ext cx="2414016" cy="914400"/>
          </a:xfrm>
          <a:prstGeom prst="roundRect">
            <a:avLst>
              <a:gd name="adj" fmla="val 12000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9816" y="467258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24712" y="4626864"/>
            <a:ext cx="1911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دعوتي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لديك دعوة جديدة إلى مناسبة</a:t>
            </a:r>
            <a:endParaRPr lang="ar-SA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141732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652760" y="169164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8617" y="1917497"/>
            <a:ext cx="416966" cy="41696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7720" y="1645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SMS لكل مدعو</a:t>
            </a:r>
            <a:endParaRPr lang="ar-SA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13055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تصل لكل رقم في القائمة رسالة مع رابط شخصي للدعوة – لا حاجة لتطبيق لفتحها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4297680" y="310896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0652760" y="338328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8617" y="3609137"/>
            <a:ext cx="416966" cy="41696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17720" y="3337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إشعار في التطبيق</a:t>
            </a:r>
            <a:endParaRPr lang="ar-SA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382219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لديه تطبيق دعوتي يتلقى أيضاً إشعاراً فورياً بأنه مدعو لمناسبة جديدة</a:t>
            </a:r>
            <a:endParaRPr lang="ar-SA" sz="1500" dirty="0"/>
          </a:p>
        </p:txBody>
      </p:sp>
      <p:sp>
        <p:nvSpPr>
          <p:cNvPr id="22" name="Shape 17"/>
          <p:cNvSpPr/>
          <p:nvPr/>
        </p:nvSpPr>
        <p:spPr>
          <a:xfrm>
            <a:off x="4297680" y="480060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652760" y="507492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8617" y="5300777"/>
            <a:ext cx="416966" cy="4169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617720" y="50292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رابط شخصي لكل واحد</a:t>
            </a:r>
            <a:endParaRPr lang="ar-SA" sz="21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551383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لذلك نعرف بالضبط من فتح الدعوة ومن ردّ – ويمكن أيضاً المشاركة عبر واتساب</a:t>
            </a:r>
            <a:endParaRPr lang="ar-SA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4: المدعو يفتح الدعوة ويرد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234440"/>
            <a:ext cx="2834640" cy="5349240"/>
          </a:xfrm>
          <a:prstGeom prst="roundRect">
            <a:avLst>
              <a:gd name="adj" fmla="val 11290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41832" y="1581912"/>
            <a:ext cx="2596896" cy="4782312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36245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9164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E8C98A"/>
          </a:solidFill>
          <a:ln w="12700">
            <a:solidFill>
              <a:srgbClr val="E8C9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947672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2542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</a:t>
            </a:r>
            <a:endParaRPr lang="ar-SA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3364992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3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حفل زفاف أحمد وسارة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 · 20:00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[اسم القاعة]</a:t>
            </a:r>
            <a:endParaRPr lang="ar-SA" sz="1100" dirty="0"/>
          </a:p>
        </p:txBody>
      </p:sp>
      <p:sp>
        <p:nvSpPr>
          <p:cNvPr id="10" name="Shape 7"/>
          <p:cNvSpPr/>
          <p:nvPr/>
        </p:nvSpPr>
        <p:spPr>
          <a:xfrm>
            <a:off x="2657856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57856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حاضر</a:t>
            </a:r>
            <a:endParaRPr lang="ar-SA" sz="1100" dirty="0"/>
          </a:p>
        </p:txBody>
      </p:sp>
      <p:sp>
        <p:nvSpPr>
          <p:cNvPr id="12" name="Shape 9"/>
          <p:cNvSpPr/>
          <p:nvPr/>
        </p:nvSpPr>
        <p:spPr>
          <a:xfrm>
            <a:off x="1914144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FBF0DA"/>
          </a:solidFill>
          <a:ln w="12700">
            <a:solidFill>
              <a:srgbClr val="FBF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14144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ربما</a:t>
            </a:r>
            <a:endParaRPr lang="ar-SA" sz="1100" dirty="0"/>
          </a:p>
        </p:txBody>
      </p:sp>
      <p:sp>
        <p:nvSpPr>
          <p:cNvPr id="14" name="Shape 11"/>
          <p:cNvSpPr/>
          <p:nvPr/>
        </p:nvSpPr>
        <p:spPr>
          <a:xfrm>
            <a:off x="1124712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F7E6E3"/>
          </a:solidFill>
          <a:ln w="12700">
            <a:solidFill>
              <a:srgbClr val="F7E6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4712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24712" y="48737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عدد الضيوف:  2</a:t>
            </a:r>
            <a:endParaRPr lang="ar-SA" sz="1100" dirty="0"/>
          </a:p>
        </p:txBody>
      </p:sp>
      <p:sp>
        <p:nvSpPr>
          <p:cNvPr id="17" name="Shape 14"/>
          <p:cNvSpPr/>
          <p:nvPr/>
        </p:nvSpPr>
        <p:spPr>
          <a:xfrm>
            <a:off x="2267712" y="5330952"/>
            <a:ext cx="1088136" cy="347472"/>
          </a:xfrm>
          <a:prstGeom prst="roundRect">
            <a:avLst>
              <a:gd name="adj" fmla="val 50000"/>
            </a:avLst>
          </a:prstGeom>
          <a:solidFill>
            <a:srgbClr val="E4F6FD"/>
          </a:solidFill>
          <a:ln w="12700">
            <a:solidFill>
              <a:srgbClr val="E4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67712" y="5330952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1A86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Waze</a:t>
            </a:r>
            <a:endParaRPr lang="ar-SA" sz="1000" dirty="0"/>
          </a:p>
        </p:txBody>
      </p:sp>
      <p:sp>
        <p:nvSpPr>
          <p:cNvPr id="19" name="Shape 16"/>
          <p:cNvSpPr/>
          <p:nvPr/>
        </p:nvSpPr>
        <p:spPr>
          <a:xfrm>
            <a:off x="1124712" y="5330952"/>
            <a:ext cx="1088136" cy="34747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24712" y="5330952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ar-SA" sz="1000" dirty="0"/>
          </a:p>
        </p:txBody>
      </p:sp>
      <p:sp>
        <p:nvSpPr>
          <p:cNvPr id="21" name="Shape 18"/>
          <p:cNvSpPr/>
          <p:nvPr/>
        </p:nvSpPr>
        <p:spPr>
          <a:xfrm>
            <a:off x="10789920" y="14173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3890" y="1631290"/>
            <a:ext cx="395021" cy="39502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1399032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يضغط على الرابط</a:t>
            </a:r>
            <a:endParaRPr lang="ar-SA" sz="2100" dirty="0"/>
          </a:p>
        </p:txBody>
      </p:sp>
      <p:sp>
        <p:nvSpPr>
          <p:cNvPr id="24" name="Text 20"/>
          <p:cNvSpPr txBox="1"/>
          <p:nvPr/>
        </p:nvSpPr>
        <p:spPr>
          <a:xfrm>
            <a:off x="4389120" y="187452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تفتح الدعوة مباشرة في الهاتف – حتى بدون تطبيق</a:t>
            </a:r>
            <a:endParaRPr lang="ar-SA" sz="1500" dirty="0"/>
          </a:p>
        </p:txBody>
      </p:sp>
      <p:sp>
        <p:nvSpPr>
          <p:cNvPr id="25" name="Shape 21"/>
          <p:cNvSpPr/>
          <p:nvPr/>
        </p:nvSpPr>
        <p:spPr>
          <a:xfrm>
            <a:off x="10789920" y="2715768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890" y="2929738"/>
            <a:ext cx="395021" cy="395021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389120" y="269748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يرى الدعوة كاملة</a:t>
            </a:r>
            <a:endParaRPr lang="ar-SA" sz="2100" dirty="0"/>
          </a:p>
        </p:txBody>
      </p:sp>
      <p:sp>
        <p:nvSpPr>
          <p:cNvPr id="28" name="Text 23"/>
          <p:cNvSpPr txBox="1"/>
          <p:nvPr/>
        </p:nvSpPr>
        <p:spPr>
          <a:xfrm>
            <a:off x="4389120" y="317296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المصممة، التاريخ والساعة، القاعة والعنوان</a:t>
            </a:r>
            <a:endParaRPr lang="ar-SA" sz="1500" dirty="0"/>
          </a:p>
        </p:txBody>
      </p:sp>
      <p:sp>
        <p:nvSpPr>
          <p:cNvPr id="29" name="Shape 24"/>
          <p:cNvSpPr/>
          <p:nvPr/>
        </p:nvSpPr>
        <p:spPr>
          <a:xfrm>
            <a:off x="10789920" y="4014216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3890" y="4228186"/>
            <a:ext cx="395021" cy="395021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389120" y="399592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يؤكد: حاضر / ربما / اعتذر</a:t>
            </a:r>
            <a:endParaRPr lang="ar-SA" sz="2100" dirty="0"/>
          </a:p>
        </p:txBody>
      </p:sp>
      <p:sp>
        <p:nvSpPr>
          <p:cNvPr id="32" name="Text 26"/>
          <p:cNvSpPr txBox="1"/>
          <p:nvPr/>
        </p:nvSpPr>
        <p:spPr>
          <a:xfrm>
            <a:off x="4389120" y="447141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ويختار عدد الضيوف، ويمكنه كتابة تهنئة لأصحاب الفرح</a:t>
            </a:r>
            <a:endParaRPr lang="ar-SA" sz="1500" dirty="0"/>
          </a:p>
        </p:txBody>
      </p:sp>
      <p:sp>
        <p:nvSpPr>
          <p:cNvPr id="33" name="Shape 27"/>
          <p:cNvSpPr/>
          <p:nvPr/>
        </p:nvSpPr>
        <p:spPr>
          <a:xfrm>
            <a:off x="10789920" y="5312664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3890" y="5526634"/>
            <a:ext cx="395021" cy="395021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389120" y="529437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يصل إلى القاعة بسهولة</a:t>
            </a:r>
            <a:endParaRPr lang="ar-SA" sz="2100" dirty="0"/>
          </a:p>
        </p:txBody>
      </p:sp>
      <p:sp>
        <p:nvSpPr>
          <p:cNvPr id="36" name="Text 29"/>
          <p:cNvSpPr txBox="1"/>
          <p:nvPr/>
        </p:nvSpPr>
        <p:spPr>
          <a:xfrm>
            <a:off x="4389120" y="5769864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 للملاحة مباشرة عبر Waze أو Google Maps</a:t>
            </a:r>
            <a:endParaRPr lang="ar-SA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«دعواتي»: كل دعواتك في مكان واحد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مستخدم يرى قائمة المناسبات المدعو إليها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8138160" y="1645920"/>
            <a:ext cx="3108960" cy="4937760"/>
          </a:xfrm>
          <a:prstGeom prst="roundRect">
            <a:avLst>
              <a:gd name="adj" fmla="val 10294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57032" y="1993392"/>
            <a:ext cx="2871216" cy="4370832"/>
          </a:xfrm>
          <a:prstGeom prst="roundRect">
            <a:avLst>
              <a:gd name="adj" fmla="val 5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0" y="177393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39912" y="21031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دعواتي</a:t>
            </a:r>
            <a:endParaRPr lang="ar-SA" sz="1600" dirty="0"/>
          </a:p>
        </p:txBody>
      </p:sp>
      <p:sp>
        <p:nvSpPr>
          <p:cNvPr id="8" name="Shape 6"/>
          <p:cNvSpPr/>
          <p:nvPr/>
        </p:nvSpPr>
        <p:spPr>
          <a:xfrm>
            <a:off x="8366760" y="263347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85632" y="272491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حفل زفاف أحمد وسارة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85632" y="301752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 16/10 · قاعة النور</a:t>
            </a:r>
            <a:endParaRPr lang="ar-SA" sz="1000" dirty="0"/>
          </a:p>
        </p:txBody>
      </p:sp>
      <p:sp>
        <p:nvSpPr>
          <p:cNvPr id="11" name="Shape 9"/>
          <p:cNvSpPr/>
          <p:nvPr/>
        </p:nvSpPr>
        <p:spPr>
          <a:xfrm>
            <a:off x="9710928" y="331012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6F2EB"/>
          </a:solidFill>
          <a:ln w="12700">
            <a:solidFill>
              <a:srgbClr val="E6F2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10928" y="3310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حاضر</a:t>
            </a:r>
            <a:endParaRPr lang="ar-SA" sz="900" dirty="0"/>
          </a:p>
        </p:txBody>
      </p:sp>
      <p:sp>
        <p:nvSpPr>
          <p:cNvPr id="13" name="Shape 11"/>
          <p:cNvSpPr/>
          <p:nvPr/>
        </p:nvSpPr>
        <p:spPr>
          <a:xfrm>
            <a:off x="8366760" y="382219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85632" y="39136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خطوبة محمد وليلى</a:t>
            </a:r>
            <a:endParaRPr lang="ar-SA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485632" y="420624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السبت 24/10 · قاعة الزهور</a:t>
            </a:r>
            <a:endParaRPr lang="ar-SA" sz="1000" dirty="0"/>
          </a:p>
        </p:txBody>
      </p:sp>
      <p:sp>
        <p:nvSpPr>
          <p:cNvPr id="16" name="Shape 14"/>
          <p:cNvSpPr/>
          <p:nvPr/>
        </p:nvSpPr>
        <p:spPr>
          <a:xfrm>
            <a:off x="9710928" y="44988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BF0DA"/>
          </a:solidFill>
          <a:ln w="12700">
            <a:solidFill>
              <a:srgbClr val="FBF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10928" y="44988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بانتظار الرد</a:t>
            </a:r>
            <a:endParaRPr lang="ar-SA" sz="900" dirty="0"/>
          </a:p>
        </p:txBody>
      </p:sp>
      <p:sp>
        <p:nvSpPr>
          <p:cNvPr id="18" name="Shape 16"/>
          <p:cNvSpPr/>
          <p:nvPr/>
        </p:nvSpPr>
        <p:spPr>
          <a:xfrm>
            <a:off x="8366760" y="501091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85632" y="510235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عيد ميلاد يوسف</a:t>
            </a:r>
            <a:endParaRPr lang="ar-SA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85632" y="539496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05/11 · البيت</a:t>
            </a:r>
            <a:endParaRPr lang="ar-SA" sz="1000" dirty="0"/>
          </a:p>
        </p:txBody>
      </p:sp>
      <p:sp>
        <p:nvSpPr>
          <p:cNvPr id="21" name="Shape 19"/>
          <p:cNvSpPr/>
          <p:nvPr/>
        </p:nvSpPr>
        <p:spPr>
          <a:xfrm>
            <a:off x="9710928" y="568756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7E6E3"/>
          </a:solidFill>
          <a:ln w="12700">
            <a:solidFill>
              <a:srgbClr val="F7E6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10928" y="56875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173736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20840" y="196596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4810" y="2179930"/>
            <a:ext cx="395021" cy="395021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68680" y="1920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واحدة لكل المناسبات</a:t>
            </a:r>
            <a:endParaRPr lang="ar-SA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239572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المناسبات القادمة والسابقة، مع حالة ردّك على كل واحدة</a:t>
            </a:r>
            <a:endParaRPr lang="ar-SA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324612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720840" y="347472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810" y="3688690"/>
            <a:ext cx="395021" cy="3950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868680" y="3429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تُربط تلقائياً برقم الهاتف</a:t>
            </a:r>
            <a:endParaRPr lang="ar-SA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868680" y="390448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دعوة أُرسلت إلى رقمك تظهر هنا فور تسجيل الدخول بنفس الرقم</a:t>
            </a:r>
            <a:endParaRPr lang="ar-SA" sz="1500" dirty="0"/>
          </a:p>
        </p:txBody>
      </p:sp>
      <p:sp>
        <p:nvSpPr>
          <p:cNvPr id="33" name="Shape 29"/>
          <p:cNvSpPr/>
          <p:nvPr/>
        </p:nvSpPr>
        <p:spPr>
          <a:xfrm>
            <a:off x="548640" y="475488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6720840" y="498348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10" y="5197450"/>
            <a:ext cx="395021" cy="395021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8680" y="4937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تغيير الرد في أي وقت</a:t>
            </a:r>
            <a:endParaRPr lang="ar-SA" sz="2000" dirty="0"/>
          </a:p>
        </p:txBody>
      </p:sp>
      <p:sp>
        <p:nvSpPr>
          <p:cNvPr id="37" name="Text 32"/>
          <p:cNvSpPr txBox="1"/>
          <p:nvPr/>
        </p:nvSpPr>
        <p:spPr>
          <a:xfrm>
            <a:off x="868680" y="541324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تغيرت الخطط؟ ادخل إلى الدعوة وحدّث ردّك</a:t>
            </a:r>
            <a:endParaRPr lang="ar-SA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5: إحصائيات مباشرة وتقرير Excel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متاحة لصاحب المناسبة، للمدير ولمسؤول النظام (الأدمين)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9144000" y="17830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0" y="18745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0" y="26517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إجمالي المدعوين</a:t>
            </a:r>
            <a:endParaRPr lang="ar-SA" sz="1500" dirty="0"/>
          </a:p>
        </p:txBody>
      </p:sp>
      <p:sp>
        <p:nvSpPr>
          <p:cNvPr id="7" name="Shape 5"/>
          <p:cNvSpPr/>
          <p:nvPr/>
        </p:nvSpPr>
        <p:spPr>
          <a:xfrm>
            <a:off x="6537960" y="17830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745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6517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مؤكد الحضور</a:t>
            </a:r>
            <a:endParaRPr lang="ar-SA" sz="1500" dirty="0"/>
          </a:p>
        </p:txBody>
      </p:sp>
      <p:sp>
        <p:nvSpPr>
          <p:cNvPr id="10" name="Shape 8"/>
          <p:cNvSpPr/>
          <p:nvPr/>
        </p:nvSpPr>
        <p:spPr>
          <a:xfrm>
            <a:off x="9144000" y="33832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0" y="34747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42519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1500" dirty="0"/>
          </a:p>
        </p:txBody>
      </p:sp>
      <p:sp>
        <p:nvSpPr>
          <p:cNvPr id="13" name="Shape 11"/>
          <p:cNvSpPr/>
          <p:nvPr/>
        </p:nvSpPr>
        <p:spPr>
          <a:xfrm>
            <a:off x="6537960" y="33832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37960" y="34747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2519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بانتظار الرد</a:t>
            </a:r>
            <a:endParaRPr lang="ar-SA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983480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أرقام للتوضيح فقط</a:t>
            </a:r>
            <a:endParaRPr lang="ar-SA" sz="1100" dirty="0"/>
          </a:p>
        </p:txBody>
      </p:sp>
      <p:sp>
        <p:nvSpPr>
          <p:cNvPr id="17" name="Shape 15"/>
          <p:cNvSpPr/>
          <p:nvPr/>
        </p:nvSpPr>
        <p:spPr>
          <a:xfrm>
            <a:off x="6537960" y="5349240"/>
            <a:ext cx="5102352" cy="960120"/>
          </a:xfrm>
          <a:prstGeom prst="roundRect">
            <a:avLst>
              <a:gd name="adj" fmla="val 14286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744200" y="5486400"/>
            <a:ext cx="685800" cy="6858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2508" y="5664708"/>
            <a:ext cx="329184" cy="3291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812280" y="54589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تصدير إلى Excel</a:t>
            </a:r>
            <a:endParaRPr lang="ar-SA" sz="1700" dirty="0"/>
          </a:p>
          <a:p>
            <a:pPr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القائمة كاملة مع الردود وعدد الضيوف</a:t>
            </a:r>
            <a:endParaRPr lang="ar-SA" sz="17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16916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القاعة: تقويم الحجوزات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يرى في تقويم شهري متى القاعة مشغولة ومتى متاحة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617720"/>
          </a:xfrm>
          <a:prstGeom prst="roundRect">
            <a:avLst>
              <a:gd name="adj" fmla="val 297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04411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42263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إثنين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80114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</a:t>
            </a:r>
            <a:endParaRPr lang="ar-SA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17966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</a:t>
            </a:r>
            <a:endParaRPr lang="ar-SA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455817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</a:t>
            </a:r>
            <a:endParaRPr lang="ar-SA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93669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جمعة</a:t>
            </a:r>
            <a:endParaRPr lang="ar-SA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2492393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92393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630245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30245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8096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0987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0987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78839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8839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216690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16690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4542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54542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92393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492393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30245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30245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0987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0987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078839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78839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16690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216690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354542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54542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492393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492393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630245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630245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68096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8096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0987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0987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078839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078839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16690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16690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3354542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54542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492393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492393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1630245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630245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768096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68096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940987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940987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5078839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078839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216690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216690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354542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54542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492393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492393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1630245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630245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768096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68096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11274552" y="19202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315200" y="1874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مشغول – توجد مناسبة في هذا اليوم</a:t>
            </a:r>
            <a:endParaRPr lang="ar-SA" sz="1600" dirty="0"/>
          </a:p>
        </p:txBody>
      </p:sp>
      <p:sp>
        <p:nvSpPr>
          <p:cNvPr id="77" name="Shape 75"/>
          <p:cNvSpPr/>
          <p:nvPr/>
        </p:nvSpPr>
        <p:spPr>
          <a:xfrm>
            <a:off x="11274552" y="24688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F6675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31520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متاح – اليوم فارغ</a:t>
            </a:r>
            <a:endParaRPr lang="ar-SA" sz="1600" dirty="0"/>
          </a:p>
        </p:txBody>
      </p:sp>
      <p:sp>
        <p:nvSpPr>
          <p:cNvPr id="79" name="Shape 77"/>
          <p:cNvSpPr/>
          <p:nvPr/>
        </p:nvSpPr>
        <p:spPr>
          <a:xfrm>
            <a:off x="10972800" y="3154680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1108" y="3332988"/>
            <a:ext cx="329184" cy="329184"/>
          </a:xfrm>
          <a:prstGeom prst="rect">
            <a:avLst/>
          </a:prstGeom>
        </p:spPr>
      </p:pic>
      <p:sp>
        <p:nvSpPr>
          <p:cNvPr id="81" name="Text 78"/>
          <p:cNvSpPr txBox="1"/>
          <p:nvPr/>
        </p:nvSpPr>
        <p:spPr>
          <a:xfrm>
            <a:off x="7315200" y="31363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شهرية واضحة</a:t>
            </a:r>
            <a:endParaRPr lang="ar-SA" sz="1800" dirty="0"/>
          </a:p>
        </p:txBody>
      </p:sp>
      <p:sp>
        <p:nvSpPr>
          <p:cNvPr id="82" name="Text 79"/>
          <p:cNvSpPr txBox="1"/>
          <p:nvPr/>
        </p:nvSpPr>
        <p:spPr>
          <a:xfrm>
            <a:off x="7315200" y="3520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التنقل بين الأشهر ورؤية الأيام المحجوزة فوراً</a:t>
            </a:r>
            <a:endParaRPr lang="ar-SA" sz="1400" dirty="0"/>
          </a:p>
        </p:txBody>
      </p:sp>
      <p:sp>
        <p:nvSpPr>
          <p:cNvPr id="83" name="Shape 80"/>
          <p:cNvSpPr/>
          <p:nvPr/>
        </p:nvSpPr>
        <p:spPr>
          <a:xfrm>
            <a:off x="10972800" y="4233672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108" y="4411980"/>
            <a:ext cx="329184" cy="329184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7315200" y="421538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مناسبات هذا الشهر</a:t>
            </a:r>
            <a:endParaRPr lang="ar-SA" sz="1800" dirty="0"/>
          </a:p>
        </p:txBody>
      </p:sp>
      <p:sp>
        <p:nvSpPr>
          <p:cNvPr id="86" name="Text 82"/>
          <p:cNvSpPr txBox="1"/>
          <p:nvPr/>
        </p:nvSpPr>
        <p:spPr>
          <a:xfrm>
            <a:off x="7315200" y="459943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بكل مناسبة: الاسم، التاريخ والساعة</a:t>
            </a:r>
            <a:endParaRPr lang="ar-SA" sz="1400" dirty="0"/>
          </a:p>
        </p:txBody>
      </p:sp>
      <p:sp>
        <p:nvSpPr>
          <p:cNvPr id="87" name="Shape 83"/>
          <p:cNvSpPr/>
          <p:nvPr/>
        </p:nvSpPr>
        <p:spPr>
          <a:xfrm>
            <a:off x="10972800" y="5312664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1108" y="5490972"/>
            <a:ext cx="329184" cy="329184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7315200" y="529437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قاعة تقويمها</a:t>
            </a:r>
            <a:endParaRPr lang="ar-SA" sz="1800" dirty="0"/>
          </a:p>
        </p:txBody>
      </p:sp>
      <p:sp>
        <p:nvSpPr>
          <p:cNvPr id="90" name="Text 85"/>
          <p:cNvSpPr txBox="1"/>
          <p:nvPr/>
        </p:nvSpPr>
        <p:spPr>
          <a:xfrm>
            <a:off x="7315200" y="5678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يملك أكثر من قاعة يختار القاعة من القائمة</a:t>
            </a:r>
            <a:endParaRPr lang="ar-SA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القاعة: صفحة القاعة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قاعة صفحة خاصة تعرض كل تفاصيلها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4617720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5669280" cy="1600200"/>
          </a:xfrm>
          <a:prstGeom prst="roundRect">
            <a:avLst>
              <a:gd name="adj" fmla="val 6857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1488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926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القاعة</a:t>
            </a:r>
            <a:endParaRPr lang="ar-SA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[اسم القاعة]</a:t>
            </a:r>
            <a:endParaRPr lang="ar-SA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438912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66160" y="4343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المدينة والعنوان الكامل</a:t>
            </a:r>
            <a:endParaRPr lang="ar-SA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3891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4343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500 ضيف</a:t>
            </a:r>
            <a:endParaRPr lang="ar-SA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4892040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66160" y="4846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هاتف القاعة</a:t>
            </a:r>
            <a:endParaRPr lang="ar-SA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892040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68680" y="4846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</a:t>
            </a:r>
            <a:endParaRPr lang="ar-SA" sz="1300" dirty="0"/>
          </a:p>
        </p:txBody>
      </p:sp>
      <p:sp>
        <p:nvSpPr>
          <p:cNvPr id="17" name="Shape 10"/>
          <p:cNvSpPr/>
          <p:nvPr/>
        </p:nvSpPr>
        <p:spPr>
          <a:xfrm>
            <a:off x="3657600" y="5532120"/>
            <a:ext cx="2606040" cy="438912"/>
          </a:xfrm>
          <a:prstGeom prst="roundRect">
            <a:avLst>
              <a:gd name="adj" fmla="val 50000"/>
            </a:avLst>
          </a:prstGeom>
          <a:solidFill>
            <a:srgbClr val="E4F6FD"/>
          </a:solidFill>
          <a:ln w="12700">
            <a:solidFill>
              <a:srgbClr val="E4F6FD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3657600" y="55321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A86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Waze</a:t>
            </a:r>
            <a:endParaRPr lang="ar-SA" sz="1300" dirty="0"/>
          </a:p>
        </p:txBody>
      </p:sp>
      <p:sp>
        <p:nvSpPr>
          <p:cNvPr id="19" name="Shape 12"/>
          <p:cNvSpPr/>
          <p:nvPr/>
        </p:nvSpPr>
        <p:spPr>
          <a:xfrm>
            <a:off x="868680" y="5532120"/>
            <a:ext cx="2606040" cy="43891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68680" y="55321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ar-SA" sz="1300" dirty="0"/>
          </a:p>
        </p:txBody>
      </p:sp>
      <p:sp>
        <p:nvSpPr>
          <p:cNvPr id="21" name="Shape 14"/>
          <p:cNvSpPr/>
          <p:nvPr/>
        </p:nvSpPr>
        <p:spPr>
          <a:xfrm>
            <a:off x="6903720" y="1737360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10789920" y="1993392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68228" y="2171700"/>
            <a:ext cx="329184" cy="32918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780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التفاصيل في مكان واحد</a:t>
            </a:r>
            <a:endParaRPr lang="ar-SA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178040" y="235915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الاسم، الصورة، المدينة والعنوان، السعة القصوى، الهاتف والملاحظات</a:t>
            </a:r>
            <a:endParaRPr lang="ar-SA" sz="1400" dirty="0"/>
          </a:p>
        </p:txBody>
      </p:sp>
      <p:sp>
        <p:nvSpPr>
          <p:cNvPr id="26" name="Shape 18"/>
          <p:cNvSpPr/>
          <p:nvPr/>
        </p:nvSpPr>
        <p:spPr>
          <a:xfrm>
            <a:off x="6903720" y="3310128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10789920" y="3566160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8228" y="3744468"/>
            <a:ext cx="329184" cy="32918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178040" y="3493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وملاحة</a:t>
            </a:r>
            <a:endParaRPr lang="ar-SA" sz="1800" dirty="0"/>
          </a:p>
        </p:txBody>
      </p:sp>
      <p:sp>
        <p:nvSpPr>
          <p:cNvPr id="30" name="Text 21"/>
          <p:cNvSpPr txBox="1"/>
          <p:nvPr/>
        </p:nvSpPr>
        <p:spPr>
          <a:xfrm>
            <a:off x="7178040" y="39319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أزرار مباشرة لـ Waze و-Google Maps للوصول إلى القاعة</a:t>
            </a:r>
            <a:endParaRPr lang="ar-SA" sz="1400" dirty="0"/>
          </a:p>
        </p:txBody>
      </p:sp>
      <p:sp>
        <p:nvSpPr>
          <p:cNvPr id="31" name="Shape 22"/>
          <p:cNvSpPr/>
          <p:nvPr/>
        </p:nvSpPr>
        <p:spPr>
          <a:xfrm>
            <a:off x="6903720" y="4882896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10789920" y="5138928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68228" y="5317236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178040" y="50657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المناسبات القادمة في القاعة</a:t>
            </a:r>
            <a:endParaRPr lang="ar-SA" sz="1800" dirty="0"/>
          </a:p>
        </p:txBody>
      </p:sp>
      <p:sp>
        <p:nvSpPr>
          <p:cNvPr id="35" name="Text 25"/>
          <p:cNvSpPr txBox="1"/>
          <p:nvPr/>
        </p:nvSpPr>
        <p:spPr>
          <a:xfrm>
            <a:off x="7178040" y="550468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المناسبات المحجوزة، مرتبطة بتقويم الحجوزات</a:t>
            </a:r>
            <a:endParaRPr lang="ar-SA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يرى ماذا؟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مستخدم يرى فقط ما يخصه</a:t>
            </a:r>
            <a:endParaRPr lang="ar-SA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الميزة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المدعو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صاحب المناسبة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صاحب القاعة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مدير / أدمين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فتح الدعوة وتأكيد الحضور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«دعواتي» – قائمة المناسبات المدعو إليها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طلب فتح مناسبة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إحصائيات الردود وتصدير Excel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تقويم الحجوزات وصفحة القاعة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5029200" cy="50292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206240" y="173736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حمّلوا التطبيق الآن</a:t>
            </a:r>
            <a:endParaRPr lang="ar-SA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274320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C9C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امسحوا الرمز بكاميرا الهاتف – سينقلكم مباشرة إلى متجر التطبيقات المناسب (Android / iPhone)</a:t>
            </a:r>
            <a:endParaRPr lang="ar-S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8404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daawatey.com/get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49377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أسئلة؟ يسعدنا مساعدتكم</a:t>
            </a:r>
            <a:endParaRPr lang="ar-SA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0175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3736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دعوتي – طريقة استخدام التطبيق</dc:title>
  <dc:subject>PptxGenJS Presentation</dc:subject>
  <dc:creator>PptxGenJS</dc:creator>
  <cp:lastModifiedBy>PptxGenJS</cp:lastModifiedBy>
  <cp:revision>1</cp:revision>
  <dcterms:created xsi:type="dcterms:W3CDTF">2026-10-01T08:11:50Z</dcterms:created>
  <dcterms:modified xsi:type="dcterms:W3CDTF">2026-10-01T08:11:50Z</dcterms:modified>
</cp:coreProperties>
</file>