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71C26"/>
                </a:solidFill>
                <a:latin typeface="Arial"/>
              </a:defRPr>
            </a:pPr>
            <a:r>
              <a:rPr sz="1800" b="0" i="0" u="none" strike="noStrike">
                <a:solidFill>
                  <a:srgbClr val="171C26"/>
                </a:solidFill>
                <a:latin typeface="Arial"/>
              </a:rPr>
              <a:t>ملخص الردود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الردود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bubble3D val="0"/>
            <c:spPr>
              <a:solidFill>
                <a:srgbClr val="B5473A"/>
              </a:solidFill>
              <a:effectLst/>
            </c:spPr>
          </c:dPt>
          <c:dPt>
            <c:idx val="2"/>
            <c:bubble3D val="0"/>
            <c:spPr>
              <a:solidFill>
                <a:srgbClr val="C98A1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مؤكد الحضور</c:v>
                </c:pt>
                <c:pt idx="1">
                  <c:v>اعتذر</c:v>
                </c:pt>
                <c:pt idx="2">
                  <c:v>بانتظار الرد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180</c:v>
                </c:pt>
                <c:pt idx="1">
                  <c:v>15</c:v>
                </c:pt>
                <c:pt idx="2">
                  <c:v>55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E23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أهلاً وسهلاً. اليوم سنتعرف على تطبيق دعوتي، الذي ستديرون من خلاله دعوات مناسبتكم عندنا في القاعة. (قبل العرض: استبدلوا [اسم القاعة] باسم قاعتكم.)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نظرة عامة على المسار كله. في الشرائح التالية سنمر على كل خطوة بالتفصيل.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أسهل طريقة للدخول: رقم الهاتف فقط. يكتب الرقم، يصله رمز من 6 أرقام برسالة SMS، يدخله – وانتهى. لا حاجة لتذكر كلمة مرور. والأهم: لأن الدخول برقم الهاتف، كل الدعوات التي أُرسلت لهذا الرقم تظهر له تلقائياً. الأرقام في الصورة مثال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الدخول الأول، يطلب التطبيق إكمال الملف الشخصي: الاسم الأول، اسم العائلة والمدينة. رقم الهاتف موجود مسبقاً لأن الدخول تم به. يمكن أيضاً اختيار لغة التطبيق. الأسماء والأرقام في الصورة مثال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صاحب المناسبة لا يحتاج أن يفهم بالتكنولوجيا: يحمّل التطبيق، يسجل، ويضغط على «طلب فتح مناسبة». الأهم: أن يجهز قائمة المدعوين مع أرقام الهواتف، لأن الدعوة تُرسل لكل واحد عبر 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تدخل كل المعلومات: تفاصيل المناسبة، صورة الدعوة كما صممها صاحب المناسبة، وقائمة المدعوين. يمكن إضافة مدعوين في أي وقت، حتى بعد الإرسال.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بعد تجهيز المناسبة، النظام يرسل رسالة SMS لكل مدعو مع رابط شخصي. ومن عنده التطبيق يحصل أيضاً على إشعار. نص الرسالة في الصورة مثال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ما يراه المدعو. الأمر بسيط حتى لكبار السن: ضغطة على الرابط، ثم ضغطة على «حاضر» أو «اعتذر». الرد يصل فوراً لصاحب المناسبة.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يحمّل التطبيق يرى في صفحة «دعواتي» كل المناسبات التي دُعي إليها. الشرط الوحيد: التسجيل بنفس رقم الهاتف الذي وصلت إليه الدعوة.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أهم شاشة لصاحب المناسبة: كم أكدوا الحضور، كم اعتذروا، ومن لم يرد بعد – وكلها تتحدث تلقائياً. ومن هنا يُصدَّر تقرير Excel نعتمد عليه في القاعة للعدد النهائي وترتيب الطاولات. (الملف بصيغة CSV ويفتح مباشرة في Excel.)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الشاشة لأصحاب القاعات: تقويم يبين الأيام المحجوزة باللون الذهبي والأيام المتاحة بالأبيض. التواريخ في الصورة للتوضيح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صاحب قاعة لديه صفحة خاصة بقاعته مع كل التفاصيل. الأرقام والتفاصيل في الصورة مثال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ملخص سريع للصلاحيات. صاحب المناسبة يرى الإحصائيات لمناسبته فقط، وصاحب القاعة يرى قاعته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اتركوا هذه الشريحة على الشاشة وقت الأسئلة، حتى يتمكن الجميع من مسح الرمز وتحميل التطبيق.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02920"/>
            <a:ext cx="1097280" cy="10972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3" y="7882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دعوتي · Daawatey</a:t>
            </a:r>
            <a:endParaRPr lang="ar-SA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نستخدم تطبيق دعوتي؟</a:t>
            </a:r>
            <a:endParaRPr lang="ar-SA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C9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طلب فتح المناسبة… حتى تأكيد حضور آخر ضيف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مقدَّم من: [اسم القاعة]</a:t>
            </a:r>
            <a:endParaRPr lang="ar-SA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الكاملة: 5 خطوات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هكذا تسير المناسبة في التطبيق من البداية حتى النهاية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9624060" y="2103120"/>
            <a:ext cx="2011680" cy="3840480"/>
          </a:xfrm>
          <a:prstGeom prst="roundRect">
            <a:avLst>
              <a:gd name="adj" fmla="val 6818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78440" y="1856232"/>
            <a:ext cx="502920" cy="50292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81260" y="2606040"/>
            <a:ext cx="1097280" cy="109728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553" y="2891333"/>
            <a:ext cx="526694" cy="526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697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فتح مناسبة</a:t>
            </a:r>
            <a:endParaRPr lang="ar-SA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761220" y="4526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المناسبة يطلب ويسلّم التفاصيل وقائمة المدعوين</a:t>
            </a:r>
            <a:endParaRPr lang="ar-SA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0" y="306324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56348" y="2103120"/>
            <a:ext cx="2011680" cy="3840480"/>
          </a:xfrm>
          <a:prstGeom prst="roundRect">
            <a:avLst>
              <a:gd name="adj" fmla="val 6818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110728" y="1856232"/>
            <a:ext cx="502920" cy="50292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10728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813548" y="2606040"/>
            <a:ext cx="1097280" cy="109728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841" y="289133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02068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تجهيز المناسبة</a:t>
            </a:r>
            <a:endParaRPr lang="ar-SA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493508" y="4526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التفاصيل، صورة الدعوة المصممة، والمدعوين</a:t>
            </a:r>
            <a:endParaRPr lang="ar-SA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748" y="306324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88636" y="2103120"/>
            <a:ext cx="2011680" cy="3840480"/>
          </a:xfrm>
          <a:prstGeom prst="roundRect">
            <a:avLst>
              <a:gd name="adj" fmla="val 6818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43016" y="1856232"/>
            <a:ext cx="502920" cy="50292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843016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545836" y="2606040"/>
            <a:ext cx="1097280" cy="109728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129" y="2891333"/>
            <a:ext cx="526694" cy="52669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34356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إرسال الدعوات</a:t>
            </a:r>
            <a:endParaRPr lang="ar-SA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225796" y="4526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SMS مع رابط شخصي لكل مدعو</a:t>
            </a:r>
            <a:endParaRPr lang="ar-SA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6" y="3063240"/>
            <a:ext cx="201168" cy="20116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820924" y="2103120"/>
            <a:ext cx="2011680" cy="3840480"/>
          </a:xfrm>
          <a:prstGeom prst="roundRect">
            <a:avLst>
              <a:gd name="adj" fmla="val 6818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75304" y="1856232"/>
            <a:ext cx="502920" cy="50292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575304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3278124" y="2606040"/>
            <a:ext cx="1097280" cy="10972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3417" y="2891333"/>
            <a:ext cx="526694" cy="52669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866644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المدعو يرد</a:t>
            </a:r>
            <a:endParaRPr lang="ar-SA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2958084" y="4526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الدعوة ويؤكد: حاضر أو معتذر</a:t>
            </a:r>
            <a:endParaRPr lang="ar-SA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2324" y="3063240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53212" y="2103120"/>
            <a:ext cx="2011680" cy="3840480"/>
          </a:xfrm>
          <a:prstGeom prst="roundRect">
            <a:avLst>
              <a:gd name="adj" fmla="val 6818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307592" y="1856232"/>
            <a:ext cx="502920" cy="50292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130759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29"/>
          <p:cNvSpPr/>
          <p:nvPr/>
        </p:nvSpPr>
        <p:spPr>
          <a:xfrm>
            <a:off x="1010412" y="2606040"/>
            <a:ext cx="1097280" cy="109728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705" y="2891333"/>
            <a:ext cx="526694" cy="526694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98932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وتقرير</a:t>
            </a:r>
            <a:endParaRPr lang="ar-SA" sz="1600" dirty="0"/>
          </a:p>
        </p:txBody>
      </p:sp>
      <p:sp>
        <p:nvSpPr>
          <p:cNvPr id="42" name="Text 31"/>
          <p:cNvSpPr txBox="1"/>
          <p:nvPr/>
        </p:nvSpPr>
        <p:spPr>
          <a:xfrm>
            <a:off x="690372" y="4526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مباشرة وتصدير القائمة إلى Excel</a:t>
            </a:r>
            <a:endParaRPr lang="ar-SA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الدخول: رقم الهاتف فقط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كلمة مرور وبدون بريد إلكتروني – خطوتان وتدخل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3429000" y="1645920"/>
            <a:ext cx="2606040" cy="4983480"/>
          </a:xfrm>
          <a:prstGeom prst="roundRect">
            <a:avLst>
              <a:gd name="adj" fmla="val 12281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47872" y="1993392"/>
            <a:ext cx="2368296" cy="4416552"/>
          </a:xfrm>
          <a:prstGeom prst="roundRect">
            <a:avLst>
              <a:gd name="adj" fmla="val 69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20540" y="177393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22219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مرحباً بك في دعوتي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4411980" y="2724912"/>
            <a:ext cx="640080" cy="6400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401" y="289133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547872" y="35021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رقم هاتفك</a:t>
            </a:r>
            <a:endParaRPr lang="ar-SA" sz="1100" dirty="0"/>
          </a:p>
        </p:txBody>
      </p:sp>
      <p:sp>
        <p:nvSpPr>
          <p:cNvPr id="11" name="Shape 8"/>
          <p:cNvSpPr/>
          <p:nvPr/>
        </p:nvSpPr>
        <p:spPr>
          <a:xfrm>
            <a:off x="3730752" y="3913632"/>
            <a:ext cx="2002536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30752" y="391363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050-1234567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85032" y="441655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سنرسل رمز تحقق مكوناً من 6 أرقام إلى رقمك</a:t>
            </a:r>
            <a:endParaRPr lang="ar-SA" sz="900" dirty="0"/>
          </a:p>
        </p:txBody>
      </p:sp>
      <p:sp>
        <p:nvSpPr>
          <p:cNvPr id="14" name="Shape 11"/>
          <p:cNvSpPr/>
          <p:nvPr/>
        </p:nvSpPr>
        <p:spPr>
          <a:xfrm>
            <a:off x="3730752" y="5010912"/>
            <a:ext cx="2002536" cy="411480"/>
          </a:xfrm>
          <a:prstGeom prst="roundRect">
            <a:avLst>
              <a:gd name="adj" fmla="val 50000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30752" y="5010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إرسال رمز التحقق</a:t>
            </a:r>
            <a:endParaRPr lang="ar-SA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9319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1645920"/>
            <a:ext cx="2606040" cy="4983480"/>
          </a:xfrm>
          <a:prstGeom prst="roundRect">
            <a:avLst>
              <a:gd name="adj" fmla="val 12281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7512" y="1993392"/>
            <a:ext cx="2368296" cy="4416552"/>
          </a:xfrm>
          <a:prstGeom prst="roundRect">
            <a:avLst>
              <a:gd name="adj" fmla="val 69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40180" y="177393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7512" y="222199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رمز التحقق</a:t>
            </a:r>
            <a:endParaRPr lang="ar-SA" sz="1300" dirty="0"/>
          </a:p>
        </p:txBody>
      </p:sp>
      <p:sp>
        <p:nvSpPr>
          <p:cNvPr id="21" name="Shape 17"/>
          <p:cNvSpPr/>
          <p:nvPr/>
        </p:nvSpPr>
        <p:spPr>
          <a:xfrm>
            <a:off x="1531620" y="2724912"/>
            <a:ext cx="640080" cy="64008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41" y="289133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67512" y="3502152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وصلك برسالة SMS</a:t>
            </a:r>
            <a:endParaRPr lang="ar-SA" sz="1100" dirty="0"/>
          </a:p>
        </p:txBody>
      </p:sp>
      <p:sp>
        <p:nvSpPr>
          <p:cNvPr id="24" name="Shape 19"/>
          <p:cNvSpPr/>
          <p:nvPr/>
        </p:nvSpPr>
        <p:spPr>
          <a:xfrm>
            <a:off x="836676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36676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1184148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184148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1531620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531620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1879092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879092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2226564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226564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2574036" y="3913632"/>
            <a:ext cx="292608" cy="41148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B07D2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574036" y="39136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850392" y="5010912"/>
            <a:ext cx="2002536" cy="411480"/>
          </a:xfrm>
          <a:prstGeom prst="roundRect">
            <a:avLst>
              <a:gd name="adj" fmla="val 50000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0392" y="5010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الرمز</a:t>
            </a:r>
            <a:endParaRPr lang="ar-SA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667512" y="555955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1A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إرسال الرمز</a:t>
            </a:r>
            <a:endParaRPr lang="ar-SA" sz="900" dirty="0"/>
          </a:p>
        </p:txBody>
      </p:sp>
      <p:sp>
        <p:nvSpPr>
          <p:cNvPr id="39" name="Shape 34"/>
          <p:cNvSpPr/>
          <p:nvPr/>
        </p:nvSpPr>
        <p:spPr>
          <a:xfrm>
            <a:off x="6400800" y="1691640"/>
            <a:ext cx="5239512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10744200" y="1901952"/>
            <a:ext cx="749808" cy="749808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150" y="2096902"/>
            <a:ext cx="359908" cy="35990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675120" y="1856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يكتب رقم هاتفه</a:t>
            </a:r>
            <a:endParaRPr lang="ar-SA" sz="1900" dirty="0"/>
          </a:p>
        </p:txBody>
      </p:sp>
      <p:sp>
        <p:nvSpPr>
          <p:cNvPr id="43" name="Text 37"/>
          <p:cNvSpPr txBox="1"/>
          <p:nvPr/>
        </p:nvSpPr>
        <p:spPr>
          <a:xfrm>
            <a:off x="6675120" y="22951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ويضغط «إرسال رمز التحقق»</a:t>
            </a:r>
            <a:endParaRPr lang="ar-SA" sz="1400" dirty="0"/>
          </a:p>
        </p:txBody>
      </p:sp>
      <p:sp>
        <p:nvSpPr>
          <p:cNvPr id="44" name="Shape 38"/>
          <p:cNvSpPr/>
          <p:nvPr/>
        </p:nvSpPr>
        <p:spPr>
          <a:xfrm>
            <a:off x="6400800" y="3063240"/>
            <a:ext cx="5239512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10744200" y="3273552"/>
            <a:ext cx="749808" cy="749808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9150" y="3468502"/>
            <a:ext cx="359908" cy="359908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6675120" y="32278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يدخل الرمز الذي وصله</a:t>
            </a:r>
            <a:endParaRPr lang="ar-SA" sz="1900" dirty="0"/>
          </a:p>
        </p:txBody>
      </p:sp>
      <p:sp>
        <p:nvSpPr>
          <p:cNvPr id="48" name="Text 41"/>
          <p:cNvSpPr txBox="1"/>
          <p:nvPr/>
        </p:nvSpPr>
        <p:spPr>
          <a:xfrm>
            <a:off x="6675120" y="3666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من 6 أرقام برسالة SMS – وهذا كل شيء</a:t>
            </a:r>
            <a:endParaRPr lang="ar-SA" sz="1400" dirty="0"/>
          </a:p>
        </p:txBody>
      </p:sp>
      <p:sp>
        <p:nvSpPr>
          <p:cNvPr id="49" name="Shape 42"/>
          <p:cNvSpPr/>
          <p:nvPr/>
        </p:nvSpPr>
        <p:spPr>
          <a:xfrm>
            <a:off x="6400800" y="4434840"/>
            <a:ext cx="5239512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10744200" y="4645152"/>
            <a:ext cx="749808" cy="749808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9150" y="4840102"/>
            <a:ext cx="359908" cy="35990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675120" y="45994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دعواته تنتظره تلقائياً</a:t>
            </a:r>
            <a:endParaRPr lang="ar-SA" sz="1900" dirty="0"/>
          </a:p>
        </p:txBody>
      </p:sp>
      <p:sp>
        <p:nvSpPr>
          <p:cNvPr id="53" name="Text 45"/>
          <p:cNvSpPr txBox="1"/>
          <p:nvPr/>
        </p:nvSpPr>
        <p:spPr>
          <a:xfrm>
            <a:off x="6675120" y="5038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دعوة أُرسلت إلى هذا الرقم تظهر فوراً في «دعواتي»</a:t>
            </a:r>
            <a:endParaRPr lang="ar-SA" sz="1400" dirty="0"/>
          </a:p>
        </p:txBody>
      </p:sp>
      <p:sp>
        <p:nvSpPr>
          <p:cNvPr id="54" name="Text 46"/>
          <p:cNvSpPr txBox="1"/>
          <p:nvPr/>
        </p:nvSpPr>
        <p:spPr>
          <a:xfrm>
            <a:off x="6400800" y="58978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iPhone يمكن أيضاً الدخول عبر حساب Apple</a:t>
            </a:r>
            <a:endParaRPr lang="ar-SA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الشخصي «حسابي»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مرة واحدة فقط بعد الدخول الأول – ثم يفتح التطبيق كاملاً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017520" cy="5074920"/>
          </a:xfrm>
          <a:prstGeom prst="roundRect">
            <a:avLst>
              <a:gd name="adj" fmla="val 10606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947672"/>
            <a:ext cx="2779776" cy="4507992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72821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203911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حسابي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404872"/>
            <a:ext cx="640080" cy="640080"/>
          </a:xfrm>
          <a:prstGeom prst="ellipse">
            <a:avLst/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4203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4712" y="313639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الأول *</a:t>
            </a:r>
            <a:endParaRPr lang="ar-SA" sz="900" dirty="0"/>
          </a:p>
        </p:txBody>
      </p:sp>
      <p:sp>
        <p:nvSpPr>
          <p:cNvPr id="11" name="Shape 8"/>
          <p:cNvSpPr/>
          <p:nvPr/>
        </p:nvSpPr>
        <p:spPr>
          <a:xfrm>
            <a:off x="1124712" y="3346704"/>
            <a:ext cx="241401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16152" y="334670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</a:t>
            </a:r>
            <a:endParaRPr lang="ar-SA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366674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العائلة *</a:t>
            </a:r>
            <a:endParaRPr lang="ar-SA" sz="900" dirty="0"/>
          </a:p>
        </p:txBody>
      </p:sp>
      <p:sp>
        <p:nvSpPr>
          <p:cNvPr id="14" name="Shape 11"/>
          <p:cNvSpPr/>
          <p:nvPr/>
        </p:nvSpPr>
        <p:spPr>
          <a:xfrm>
            <a:off x="1124712" y="3877056"/>
            <a:ext cx="241401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16152" y="38770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خطيب</a:t>
            </a:r>
            <a:endParaRPr lang="ar-SA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" y="419709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البلد / المدينة *</a:t>
            </a:r>
            <a:endParaRPr lang="ar-SA" sz="900" dirty="0"/>
          </a:p>
        </p:txBody>
      </p:sp>
      <p:sp>
        <p:nvSpPr>
          <p:cNvPr id="17" name="Shape 14"/>
          <p:cNvSpPr/>
          <p:nvPr/>
        </p:nvSpPr>
        <p:spPr>
          <a:xfrm>
            <a:off x="1124712" y="4407408"/>
            <a:ext cx="241401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16152" y="44074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الناصرة</a:t>
            </a:r>
            <a:endParaRPr lang="ar-SA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727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الهاتف</a:t>
            </a:r>
            <a:endParaRPr lang="ar-SA" sz="900" dirty="0"/>
          </a:p>
        </p:txBody>
      </p:sp>
      <p:sp>
        <p:nvSpPr>
          <p:cNvPr id="20" name="Shape 17"/>
          <p:cNvSpPr/>
          <p:nvPr/>
        </p:nvSpPr>
        <p:spPr>
          <a:xfrm>
            <a:off x="1124712" y="4937760"/>
            <a:ext cx="241401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16152" y="493776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050-1234567</a:t>
            </a:r>
            <a:endParaRPr lang="ar-SA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المفضلة</a:t>
            </a:r>
            <a:endParaRPr lang="ar-SA" sz="900" dirty="0"/>
          </a:p>
        </p:txBody>
      </p:sp>
      <p:sp>
        <p:nvSpPr>
          <p:cNvPr id="23" name="Shape 20"/>
          <p:cNvSpPr/>
          <p:nvPr/>
        </p:nvSpPr>
        <p:spPr>
          <a:xfrm>
            <a:off x="2764536" y="5486400"/>
            <a:ext cx="728472" cy="274320"/>
          </a:xfrm>
          <a:prstGeom prst="roundRect">
            <a:avLst>
              <a:gd name="adj" fmla="val 50000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64536" y="5486400"/>
            <a:ext cx="72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</a:t>
            </a:r>
            <a:endParaRPr lang="ar-SA" sz="900" dirty="0"/>
          </a:p>
        </p:txBody>
      </p:sp>
      <p:sp>
        <p:nvSpPr>
          <p:cNvPr id="25" name="Shape 22"/>
          <p:cNvSpPr/>
          <p:nvPr/>
        </p:nvSpPr>
        <p:spPr>
          <a:xfrm>
            <a:off x="1990344" y="5486400"/>
            <a:ext cx="728472" cy="274320"/>
          </a:xfrm>
          <a:prstGeom prst="roundRect">
            <a:avLst>
              <a:gd name="adj" fmla="val 5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990344" y="5486400"/>
            <a:ext cx="72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</a:t>
            </a:r>
            <a:endParaRPr lang="ar-SA" sz="900" dirty="0"/>
          </a:p>
        </p:txBody>
      </p:sp>
      <p:sp>
        <p:nvSpPr>
          <p:cNvPr id="27" name="Shape 24"/>
          <p:cNvSpPr/>
          <p:nvPr/>
        </p:nvSpPr>
        <p:spPr>
          <a:xfrm>
            <a:off x="1170432" y="5486400"/>
            <a:ext cx="728472" cy="274320"/>
          </a:xfrm>
          <a:prstGeom prst="roundRect">
            <a:avLst>
              <a:gd name="adj" fmla="val 5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70432" y="5486400"/>
            <a:ext cx="72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ar-SA" sz="900" dirty="0"/>
          </a:p>
        </p:txBody>
      </p:sp>
      <p:sp>
        <p:nvSpPr>
          <p:cNvPr id="29" name="Shape 26"/>
          <p:cNvSpPr/>
          <p:nvPr/>
        </p:nvSpPr>
        <p:spPr>
          <a:xfrm>
            <a:off x="1124712" y="5879592"/>
            <a:ext cx="2414016" cy="384048"/>
          </a:xfrm>
          <a:prstGeom prst="roundRect">
            <a:avLst>
              <a:gd name="adj" fmla="val 50000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24712" y="587959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حفظ التغييرات</a:t>
            </a:r>
            <a:endParaRPr lang="ar-SA" sz="1100" dirty="0"/>
          </a:p>
        </p:txBody>
      </p:sp>
      <p:sp>
        <p:nvSpPr>
          <p:cNvPr id="31" name="Shape 28"/>
          <p:cNvSpPr/>
          <p:nvPr/>
        </p:nvSpPr>
        <p:spPr>
          <a:xfrm>
            <a:off x="4480560" y="1645920"/>
            <a:ext cx="7159752" cy="1024128"/>
          </a:xfrm>
          <a:prstGeom prst="roundRect">
            <a:avLst>
              <a:gd name="adj" fmla="val 13393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835640" y="1819656"/>
            <a:ext cx="676656" cy="676656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571" y="1995587"/>
            <a:ext cx="324795" cy="32479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754880" y="177393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الأول، اسم العائلة والمدينة</a:t>
            </a:r>
            <a:endParaRPr lang="ar-SA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4754880" y="217627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إلزامية – بعد تعبئتها يمكن استخدام التطبيق</a:t>
            </a:r>
            <a:endParaRPr lang="ar-SA" sz="1400" dirty="0"/>
          </a:p>
        </p:txBody>
      </p:sp>
      <p:sp>
        <p:nvSpPr>
          <p:cNvPr id="36" name="Shape 32"/>
          <p:cNvSpPr/>
          <p:nvPr/>
        </p:nvSpPr>
        <p:spPr>
          <a:xfrm>
            <a:off x="4480560" y="2834640"/>
            <a:ext cx="7159752" cy="1024128"/>
          </a:xfrm>
          <a:prstGeom prst="roundRect">
            <a:avLst>
              <a:gd name="adj" fmla="val 13393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10835640" y="3008376"/>
            <a:ext cx="676656" cy="676656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571" y="3184307"/>
            <a:ext cx="324795" cy="32479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4754880" y="296265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الهاتف محفوظ تلقائياً</a:t>
            </a:r>
            <a:endParaRPr lang="ar-SA" sz="1800" dirty="0"/>
          </a:p>
        </p:txBody>
      </p:sp>
      <p:sp>
        <p:nvSpPr>
          <p:cNvPr id="40" name="Text 35"/>
          <p:cNvSpPr txBox="1"/>
          <p:nvPr/>
        </p:nvSpPr>
        <p:spPr>
          <a:xfrm>
            <a:off x="4754880" y="336499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دخل برقم هاتفه لا يحتاج لكتابته مرة أخرى</a:t>
            </a:r>
            <a:endParaRPr lang="ar-SA" sz="1400" dirty="0"/>
          </a:p>
        </p:txBody>
      </p:sp>
      <p:sp>
        <p:nvSpPr>
          <p:cNvPr id="41" name="Shape 36"/>
          <p:cNvSpPr/>
          <p:nvPr/>
        </p:nvSpPr>
        <p:spPr>
          <a:xfrm>
            <a:off x="4480560" y="4023360"/>
            <a:ext cx="7159752" cy="1024128"/>
          </a:xfrm>
          <a:prstGeom prst="roundRect">
            <a:avLst>
              <a:gd name="adj" fmla="val 13393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10835640" y="4197096"/>
            <a:ext cx="676656" cy="676656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1571" y="4373027"/>
            <a:ext cx="324795" cy="324795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4754880" y="415137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المفضلة</a:t>
            </a:r>
            <a:endParaRPr lang="ar-SA" sz="1800" dirty="0"/>
          </a:p>
        </p:txBody>
      </p:sp>
      <p:sp>
        <p:nvSpPr>
          <p:cNvPr id="45" name="Text 39"/>
          <p:cNvSpPr txBox="1"/>
          <p:nvPr/>
        </p:nvSpPr>
        <p:spPr>
          <a:xfrm>
            <a:off x="4754880" y="455371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العربية، العبرية أو الإنجليزية – التطبيق كله يتحول للغة المختارة</a:t>
            </a:r>
            <a:endParaRPr lang="ar-SA" sz="1400" dirty="0"/>
          </a:p>
        </p:txBody>
      </p:sp>
      <p:sp>
        <p:nvSpPr>
          <p:cNvPr id="46" name="Shape 40"/>
          <p:cNvSpPr/>
          <p:nvPr/>
        </p:nvSpPr>
        <p:spPr>
          <a:xfrm>
            <a:off x="4480560" y="5212080"/>
            <a:ext cx="7159752" cy="1024128"/>
          </a:xfrm>
          <a:prstGeom prst="roundRect">
            <a:avLst>
              <a:gd name="adj" fmla="val 13393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10835640" y="5385816"/>
            <a:ext cx="676656" cy="676656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571" y="5561747"/>
            <a:ext cx="324795" cy="32479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4754880" y="534009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شخصية ولقب</a:t>
            </a:r>
            <a:endParaRPr lang="ar-SA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4754880" y="574243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اختياري – مثلاً: الحاج، الدكتور، الأستاذ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1: صاحب المناسبة يطلب فتح مناسبة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داخل التطبيق: صفحة «دعواتي» ← زر «طلب فتح مناسبة»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4937760" y="1828800"/>
            <a:ext cx="6702552" cy="1234440"/>
          </a:xfrm>
          <a:prstGeom prst="roundRect">
            <a:avLst>
              <a:gd name="adj" fmla="val 11111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0" y="2029968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1010" y="2243938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5780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يحمّل التطبيق ويدخل برقم هاتفه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257800" y="2487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SMS يصل إلى الهاتف – بدون كلمة مرور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4937760" y="3291840"/>
            <a:ext cx="6702552" cy="1234440"/>
          </a:xfrm>
          <a:prstGeom prst="roundRect">
            <a:avLst>
              <a:gd name="adj" fmla="val 11111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607040" y="3493008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010" y="370697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3474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يكمل الملف الشخصي</a:t>
            </a:r>
            <a:endParaRPr lang="ar-S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39502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والمدينة – ويدخل بنفس رقم الهاتف الذي أعطاه للقاعة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4937760" y="4754880"/>
            <a:ext cx="6702552" cy="1234440"/>
          </a:xfrm>
          <a:prstGeom prst="roundRect">
            <a:avLst>
              <a:gd name="adj" fmla="val 11111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607040" y="4956048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010" y="517001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7800" y="4937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يضغط «طلب فتح مناسبة»</a:t>
            </a:r>
            <a:endParaRPr lang="ar-SA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5413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يكتب اسم المناسبة والتفاصيل ورقم هاتف للتواصل، ونحن نتواصل معه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1828800"/>
            <a:ext cx="4114800" cy="4160520"/>
          </a:xfrm>
          <a:prstGeom prst="roundRect">
            <a:avLst>
              <a:gd name="adj" fmla="val 3333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يجهّز صاحب المناسبة؟</a:t>
            </a:r>
            <a:endParaRPr lang="ar-SA" sz="1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889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2743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المناسبة: الاسم، النوع، التاريخ والساعة</a:t>
            </a:r>
            <a:endParaRPr lang="ar-SA" sz="15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566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" y="3520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القاعة والعنوان</a:t>
            </a:r>
            <a:endParaRPr lang="ar-SA" sz="15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3434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2960" y="4297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الدعوة المصممة</a:t>
            </a:r>
            <a:endParaRPr lang="ar-SA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512064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22960" y="50749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المدعوين: الاسم + رقم الهاتف لكل مدعو</a:t>
            </a:r>
            <a:endParaRPr lang="ar-SA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2: تجهيز المناسبة في النظام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تُدخل التفاصيل والصورة والمدعوين – وتصبح المناسبة جاهزة للإرسال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8119872" y="182880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97312" y="2103120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1282" y="23170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94192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المناسبة</a:t>
            </a:r>
            <a:endParaRPr lang="ar-S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37033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المناسبة ونوعها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 والساعة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القاعة والعنوان ورابط الخريطة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العريس والعروس / المضيف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1696" y="2103120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666" y="23170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الدعوة المصممة</a:t>
            </a:r>
            <a:endParaRPr lang="ar-S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7033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صورة بطاقة الدعوة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الدعوة الذي يظهر في الرسالة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هكذا يراها كل مدعو عند فتح الرابط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182880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26080" y="2103120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50" y="23170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المدعوين</a:t>
            </a:r>
            <a:endParaRPr lang="ar-SA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37033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ورقم الهاتف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الضيوف المتوقع</a:t>
            </a:r>
            <a:endParaRPr lang="ar-SA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مجموعة: أهل العريس، أهل العروس، أصدقاء…</a:t>
            </a:r>
            <a:endParaRPr lang="ar-SA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3: النظام يرسل الدعوات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834640" cy="5349240"/>
          </a:xfrm>
          <a:prstGeom prst="roundRect">
            <a:avLst>
              <a:gd name="adj" fmla="val 11290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581912"/>
            <a:ext cx="2596896" cy="478231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36245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67335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1078992" y="2130552"/>
            <a:ext cx="2185416" cy="2103120"/>
          </a:xfrm>
          <a:prstGeom prst="roundRect">
            <a:avLst>
              <a:gd name="adj" fmla="val 652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97864" y="2240280"/>
            <a:ext cx="1956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عائلة أحمد تتشرف بدعوتكم لحفل زفاف ابنها</a:t>
            </a:r>
            <a:endParaRPr lang="ar-SA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لفتح الدعوة وتأكيد الحضور:</a:t>
            </a:r>
            <a:endParaRPr lang="ar-SA" sz="12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200" b="1" dirty="0">
                <a:solidFill>
                  <a:srgbClr val="1A6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daawatey.com/i/…</a:t>
            </a:r>
            <a:endParaRPr lang="ar-SA" sz="1200" dirty="0"/>
          </a:p>
        </p:txBody>
      </p:sp>
      <p:sp>
        <p:nvSpPr>
          <p:cNvPr id="9" name="Shape 7"/>
          <p:cNvSpPr/>
          <p:nvPr/>
        </p:nvSpPr>
        <p:spPr>
          <a:xfrm>
            <a:off x="1033272" y="4553712"/>
            <a:ext cx="2414016" cy="914400"/>
          </a:xfrm>
          <a:prstGeom prst="roundRect">
            <a:avLst>
              <a:gd name="adj" fmla="val 12000"/>
            </a:avLst>
          </a:prstGeom>
          <a:solidFill>
            <a:srgbClr val="F8F3EA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16" y="46725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24712" y="4626864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دعوتي</a:t>
            </a:r>
            <a:endParaRPr lang="ar-SA" sz="11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لديك دعوة جديدة إلى مناسبة</a:t>
            </a:r>
            <a:endParaRPr lang="ar-SA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7342632" cy="1463040"/>
          </a:xfrm>
          <a:prstGeom prst="roundRect">
            <a:avLst>
              <a:gd name="adj" fmla="val 9375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652760" y="1691640"/>
            <a:ext cx="868680" cy="8686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617" y="191749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1645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SMS لكل مدعو</a:t>
            </a:r>
            <a:endParaRPr lang="ar-SA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21305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تصل لكل رقم في القائمة رسالة مع رابط شخصي للدعوة – لا حاجة لتطبيق لفتحها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4297680" y="3108960"/>
            <a:ext cx="7342632" cy="1463040"/>
          </a:xfrm>
          <a:prstGeom prst="roundRect">
            <a:avLst>
              <a:gd name="adj" fmla="val 9375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652760" y="3383280"/>
            <a:ext cx="868680" cy="8686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617" y="3609137"/>
            <a:ext cx="416966" cy="41696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17720" y="3337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في التطبيق</a:t>
            </a:r>
            <a:endParaRPr lang="ar-SA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38221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لديه تطبيق دعوتي يتلقى أيضاً إشعاراً فورياً بأنه مدعو لمناسبة جديدة</a:t>
            </a:r>
            <a:endParaRPr lang="ar-SA" sz="1500" dirty="0"/>
          </a:p>
        </p:txBody>
      </p:sp>
      <p:sp>
        <p:nvSpPr>
          <p:cNvPr id="22" name="Shape 17"/>
          <p:cNvSpPr/>
          <p:nvPr/>
        </p:nvSpPr>
        <p:spPr>
          <a:xfrm>
            <a:off x="4297680" y="4800600"/>
            <a:ext cx="7342632" cy="1463040"/>
          </a:xfrm>
          <a:prstGeom prst="roundRect">
            <a:avLst>
              <a:gd name="adj" fmla="val 9375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652760" y="5074920"/>
            <a:ext cx="868680" cy="86868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617" y="5300777"/>
            <a:ext cx="416966" cy="41696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1772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رابط شخصي لكل واحد</a:t>
            </a:r>
            <a:endParaRPr lang="ar-SA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4617720" y="551383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لذلك نعرف بالضبط من فتح الدعوة ومن ردّ – ويمكن أيضاً المشاركة عبر واتساب</a:t>
            </a:r>
            <a:endParaRPr lang="ar-SA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4: المدعو يفتح الدعوة ويرد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834640" cy="5349240"/>
          </a:xfrm>
          <a:prstGeom prst="roundRect">
            <a:avLst>
              <a:gd name="adj" fmla="val 11290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581912"/>
            <a:ext cx="2596896" cy="478231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36245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6916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476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الدعوة</a:t>
            </a:r>
            <a:endParaRPr lang="ar-SA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3364992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حفل زفاف أحمد وسارة</a:t>
            </a:r>
            <a:endParaRPr lang="ar-SA" sz="11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الجمعة · 20:00</a:t>
            </a:r>
            <a:endParaRPr lang="ar-SA" sz="11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قاعة [اسم القاعة]</a:t>
            </a:r>
            <a:endParaRPr lang="ar-SA" sz="1100" dirty="0"/>
          </a:p>
        </p:txBody>
      </p:sp>
      <p:sp>
        <p:nvSpPr>
          <p:cNvPr id="10" name="Shape 7"/>
          <p:cNvSpPr/>
          <p:nvPr/>
        </p:nvSpPr>
        <p:spPr>
          <a:xfrm>
            <a:off x="2657856" y="4325112"/>
            <a:ext cx="697992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7856" y="4325112"/>
            <a:ext cx="69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حاضر</a:t>
            </a:r>
            <a:endParaRPr lang="ar-SA" sz="1100" dirty="0"/>
          </a:p>
        </p:txBody>
      </p:sp>
      <p:sp>
        <p:nvSpPr>
          <p:cNvPr id="12" name="Shape 9"/>
          <p:cNvSpPr/>
          <p:nvPr/>
        </p:nvSpPr>
        <p:spPr>
          <a:xfrm>
            <a:off x="1914144" y="4325112"/>
            <a:ext cx="697992" cy="384048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 w="12700">
            <a:solidFill>
              <a:srgbClr val="FBF0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14144" y="4325112"/>
            <a:ext cx="69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C98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ربما</a:t>
            </a:r>
            <a:endParaRPr lang="ar-SA" sz="1100" dirty="0"/>
          </a:p>
        </p:txBody>
      </p:sp>
      <p:sp>
        <p:nvSpPr>
          <p:cNvPr id="14" name="Shape 11"/>
          <p:cNvSpPr/>
          <p:nvPr/>
        </p:nvSpPr>
        <p:spPr>
          <a:xfrm>
            <a:off x="1124712" y="4325112"/>
            <a:ext cx="697992" cy="384048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24712" y="4325112"/>
            <a:ext cx="69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B5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اعتذر</a:t>
            </a:r>
            <a:endParaRPr lang="ar-SA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" y="48737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الضيوف:  2</a:t>
            </a:r>
            <a:endParaRPr lang="ar-SA" sz="1100" dirty="0"/>
          </a:p>
        </p:txBody>
      </p:sp>
      <p:sp>
        <p:nvSpPr>
          <p:cNvPr id="17" name="Shape 14"/>
          <p:cNvSpPr/>
          <p:nvPr/>
        </p:nvSpPr>
        <p:spPr>
          <a:xfrm>
            <a:off x="2267712" y="5330952"/>
            <a:ext cx="1088136" cy="347472"/>
          </a:xfrm>
          <a:prstGeom prst="roundRect">
            <a:avLst>
              <a:gd name="adj" fmla="val 50000"/>
            </a:avLst>
          </a:prstGeom>
          <a:solidFill>
            <a:srgbClr val="E4F6FD"/>
          </a:solidFill>
          <a:ln w="12700">
            <a:solidFill>
              <a:srgbClr val="E4F6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67712" y="533095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1A8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</a:t>
            </a:r>
            <a:endParaRPr lang="ar-SA" sz="1000" dirty="0"/>
          </a:p>
        </p:txBody>
      </p:sp>
      <p:sp>
        <p:nvSpPr>
          <p:cNvPr id="19" name="Shape 16"/>
          <p:cNvSpPr/>
          <p:nvPr/>
        </p:nvSpPr>
        <p:spPr>
          <a:xfrm>
            <a:off x="1124712" y="5330952"/>
            <a:ext cx="1088136" cy="34747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24712" y="533095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ar-SA" sz="1000" dirty="0"/>
          </a:p>
        </p:txBody>
      </p:sp>
      <p:sp>
        <p:nvSpPr>
          <p:cNvPr id="21" name="Shape 18"/>
          <p:cNvSpPr/>
          <p:nvPr/>
        </p:nvSpPr>
        <p:spPr>
          <a:xfrm>
            <a:off x="10789920" y="1417320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890" y="1631290"/>
            <a:ext cx="395021" cy="39502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389120" y="139903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يضغط على الرابط</a:t>
            </a:r>
            <a:endParaRPr lang="ar-SA" sz="21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0" y="187452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تفتح الدعوة مباشرة في الهاتف – حتى بدون تطبيق</a:t>
            </a:r>
            <a:endParaRPr lang="ar-SA" sz="1500" dirty="0"/>
          </a:p>
        </p:txBody>
      </p:sp>
      <p:sp>
        <p:nvSpPr>
          <p:cNvPr id="25" name="Shape 21"/>
          <p:cNvSpPr/>
          <p:nvPr/>
        </p:nvSpPr>
        <p:spPr>
          <a:xfrm>
            <a:off x="10789920" y="2715768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2929738"/>
            <a:ext cx="395021" cy="39502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89120" y="269748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يرى الدعوة كاملة</a:t>
            </a:r>
            <a:endParaRPr lang="ar-SA" sz="2100" dirty="0"/>
          </a:p>
        </p:txBody>
      </p:sp>
      <p:sp>
        <p:nvSpPr>
          <p:cNvPr id="28" name="Text 23"/>
          <p:cNvSpPr txBox="1"/>
          <p:nvPr/>
        </p:nvSpPr>
        <p:spPr>
          <a:xfrm>
            <a:off x="4389120" y="317296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الدعوة المصممة، التاريخ والساعة، القاعة والعنوان</a:t>
            </a:r>
            <a:endParaRPr lang="ar-SA" sz="1500" dirty="0"/>
          </a:p>
        </p:txBody>
      </p:sp>
      <p:sp>
        <p:nvSpPr>
          <p:cNvPr id="29" name="Shape 24"/>
          <p:cNvSpPr/>
          <p:nvPr/>
        </p:nvSpPr>
        <p:spPr>
          <a:xfrm>
            <a:off x="10789920" y="4014216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90" y="4228186"/>
            <a:ext cx="395021" cy="39502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389120" y="399592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يؤكد: حاضر / ربما / اعتذر</a:t>
            </a:r>
            <a:endParaRPr lang="ar-SA" sz="2100" dirty="0"/>
          </a:p>
        </p:txBody>
      </p:sp>
      <p:sp>
        <p:nvSpPr>
          <p:cNvPr id="32" name="Text 26"/>
          <p:cNvSpPr txBox="1"/>
          <p:nvPr/>
        </p:nvSpPr>
        <p:spPr>
          <a:xfrm>
            <a:off x="4389120" y="447141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ويختار عدد الضيوف، ويمكنه كتابة تهنئة لأصحاب الفرح</a:t>
            </a:r>
            <a:endParaRPr lang="ar-SA" sz="1500" dirty="0"/>
          </a:p>
        </p:txBody>
      </p:sp>
      <p:sp>
        <p:nvSpPr>
          <p:cNvPr id="33" name="Shape 27"/>
          <p:cNvSpPr/>
          <p:nvPr/>
        </p:nvSpPr>
        <p:spPr>
          <a:xfrm>
            <a:off x="10789920" y="5312664"/>
            <a:ext cx="822960" cy="82296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3890" y="5526634"/>
            <a:ext cx="395021" cy="39502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389120" y="529437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 إلى القاعة بسهولة</a:t>
            </a:r>
            <a:endParaRPr lang="ar-SA" sz="2100" dirty="0"/>
          </a:p>
        </p:txBody>
      </p:sp>
      <p:sp>
        <p:nvSpPr>
          <p:cNvPr id="36" name="Text 29"/>
          <p:cNvSpPr txBox="1"/>
          <p:nvPr/>
        </p:nvSpPr>
        <p:spPr>
          <a:xfrm>
            <a:off x="4389120" y="576986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للملاحة مباشرة عبر Waze أو Google Maps</a:t>
            </a:r>
            <a:endParaRPr lang="ar-SA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«دعواتي»: كل دعواتك في مكان واحد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مستخدم يرى قائمة المناسبات المدعو إليها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8138160" y="1645920"/>
            <a:ext cx="3108960" cy="4937760"/>
          </a:xfrm>
          <a:prstGeom prst="roundRect">
            <a:avLst>
              <a:gd name="adj" fmla="val 10294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57032" y="1993392"/>
            <a:ext cx="2871216" cy="4370832"/>
          </a:xfrm>
          <a:prstGeom prst="roundRect">
            <a:avLst>
              <a:gd name="adj" fmla="val 57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1773936"/>
            <a:ext cx="822960" cy="91440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39912" y="210312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دعواتي</a:t>
            </a:r>
            <a:endParaRPr lang="ar-SA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263347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8F3EA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85632" y="2724912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حفل زفاف أحمد وسارة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85632" y="301752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الجمعة 16/10 · قاعة النور</a:t>
            </a:r>
            <a:endParaRPr lang="ar-SA" sz="1000" dirty="0"/>
          </a:p>
        </p:txBody>
      </p:sp>
      <p:sp>
        <p:nvSpPr>
          <p:cNvPr id="11" name="Shape 9"/>
          <p:cNvSpPr/>
          <p:nvPr/>
        </p:nvSpPr>
        <p:spPr>
          <a:xfrm>
            <a:off x="9710928" y="331012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 w="12700">
            <a:solidFill>
              <a:srgbClr val="E6F2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10928" y="3310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حاضر</a:t>
            </a:r>
            <a:endParaRPr lang="ar-SA" sz="900" dirty="0"/>
          </a:p>
        </p:txBody>
      </p:sp>
      <p:sp>
        <p:nvSpPr>
          <p:cNvPr id="13" name="Shape 11"/>
          <p:cNvSpPr/>
          <p:nvPr/>
        </p:nvSpPr>
        <p:spPr>
          <a:xfrm>
            <a:off x="8366760" y="382219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8F3EA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3913632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خطوبة محمد وليلى</a:t>
            </a:r>
            <a:endParaRPr lang="ar-SA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420624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السبت 24/10 · قاعة الزهور</a:t>
            </a:r>
            <a:endParaRPr lang="ar-SA" sz="1000" dirty="0"/>
          </a:p>
        </p:txBody>
      </p:sp>
      <p:sp>
        <p:nvSpPr>
          <p:cNvPr id="16" name="Shape 14"/>
          <p:cNvSpPr/>
          <p:nvPr/>
        </p:nvSpPr>
        <p:spPr>
          <a:xfrm>
            <a:off x="9710928" y="44988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BF0DA"/>
          </a:solidFill>
          <a:ln w="12700">
            <a:solidFill>
              <a:srgbClr val="FBF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10928" y="4498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C98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الرد</a:t>
            </a:r>
            <a:endParaRPr lang="ar-SA" sz="900" dirty="0"/>
          </a:p>
        </p:txBody>
      </p:sp>
      <p:sp>
        <p:nvSpPr>
          <p:cNvPr id="18" name="Shape 16"/>
          <p:cNvSpPr/>
          <p:nvPr/>
        </p:nvSpPr>
        <p:spPr>
          <a:xfrm>
            <a:off x="8366760" y="501091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8F3EA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5632" y="5102352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عيد ميلاد يوسف</a:t>
            </a:r>
            <a:endParaRPr lang="ar-SA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539496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الخميس 05/11 · البيت</a:t>
            </a:r>
            <a:endParaRPr lang="ar-SA" sz="1000" dirty="0"/>
          </a:p>
        </p:txBody>
      </p:sp>
      <p:sp>
        <p:nvSpPr>
          <p:cNvPr id="21" name="Shape 19"/>
          <p:cNvSpPr/>
          <p:nvPr/>
        </p:nvSpPr>
        <p:spPr>
          <a:xfrm>
            <a:off x="9710928" y="568756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10928" y="5687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B5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اعتذر</a:t>
            </a:r>
            <a:endParaRPr lang="ar-SA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1737360"/>
            <a:ext cx="71323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1965960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0" y="2179930"/>
            <a:ext cx="395021" cy="395021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68680" y="1920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واحدة لكل المناسبات</a:t>
            </a:r>
            <a:endParaRPr lang="ar-SA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23957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المناسبات القادمة والسابقة، مع حالة ردّك على كل واحدة</a:t>
            </a:r>
            <a:endParaRPr lang="ar-SA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3246120"/>
            <a:ext cx="71323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20840" y="3474720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0" y="3688690"/>
            <a:ext cx="395021" cy="395021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68680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تُربط تلقائياً برقم الهاتف</a:t>
            </a:r>
            <a:endParaRPr lang="ar-SA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868680" y="39044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دعوة أُرسلت إلى رقمك تظهر هنا فور تسجيل الدخول بنفس الرقم</a:t>
            </a:r>
            <a:endParaRPr lang="ar-SA" sz="1500" dirty="0"/>
          </a:p>
        </p:txBody>
      </p:sp>
      <p:sp>
        <p:nvSpPr>
          <p:cNvPr id="33" name="Shape 29"/>
          <p:cNvSpPr/>
          <p:nvPr/>
        </p:nvSpPr>
        <p:spPr>
          <a:xfrm>
            <a:off x="548640" y="4754880"/>
            <a:ext cx="71323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720840" y="4983480"/>
            <a:ext cx="822960" cy="82296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0" y="5197450"/>
            <a:ext cx="395021" cy="395021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68680" y="4937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الرد في أي وقت</a:t>
            </a:r>
            <a:endParaRPr lang="ar-SA" sz="2000" dirty="0"/>
          </a:p>
        </p:txBody>
      </p:sp>
      <p:sp>
        <p:nvSpPr>
          <p:cNvPr id="37" name="Text 32"/>
          <p:cNvSpPr txBox="1"/>
          <p:nvPr/>
        </p:nvSpPr>
        <p:spPr>
          <a:xfrm>
            <a:off x="868680" y="54132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تغيرت الخطط؟ ادخل إلى الدعوة وحدّث ردّك</a:t>
            </a:r>
            <a:endParaRPr lang="ar-SA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5: إحصائيات مباشرة وتقرير Excel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متاحة لصاحب المناسبة، للمدير ولمسؤول النظام (الأدمين)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9144000" y="1783080"/>
            <a:ext cx="2496312" cy="1371600"/>
          </a:xfrm>
          <a:prstGeom prst="roundRect">
            <a:avLst>
              <a:gd name="adj" fmla="val 1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0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0" y="26517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المدعوين</a:t>
            </a:r>
            <a:endParaRPr lang="ar-SA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783080"/>
            <a:ext cx="2496312" cy="1371600"/>
          </a:xfrm>
          <a:prstGeom prst="roundRect">
            <a:avLst>
              <a:gd name="adj" fmla="val 1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مؤكد الحضور</a:t>
            </a:r>
            <a:endParaRPr lang="ar-SA" sz="1500" dirty="0"/>
          </a:p>
        </p:txBody>
      </p:sp>
      <p:sp>
        <p:nvSpPr>
          <p:cNvPr id="10" name="Shape 8"/>
          <p:cNvSpPr/>
          <p:nvPr/>
        </p:nvSpPr>
        <p:spPr>
          <a:xfrm>
            <a:off x="9144000" y="3383280"/>
            <a:ext cx="2496312" cy="1371600"/>
          </a:xfrm>
          <a:prstGeom prst="roundRect">
            <a:avLst>
              <a:gd name="adj" fmla="val 1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0" y="34747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42519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اعتذر</a:t>
            </a:r>
            <a:endParaRPr lang="ar-SA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3383280"/>
            <a:ext cx="2496312" cy="1371600"/>
          </a:xfrm>
          <a:prstGeom prst="roundRect">
            <a:avLst>
              <a:gd name="adj" fmla="val 1000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4747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8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25196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الرد</a:t>
            </a:r>
            <a:endParaRPr lang="ar-SA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98348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أرقام للتوضيح فقط</a:t>
            </a:r>
            <a:endParaRPr lang="ar-SA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5349240"/>
            <a:ext cx="5102352" cy="960120"/>
          </a:xfrm>
          <a:prstGeom prst="roundRect">
            <a:avLst>
              <a:gd name="adj" fmla="val 14286"/>
            </a:avLst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486400"/>
            <a:ext cx="685800" cy="6858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5664708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812280" y="54589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إلى Excel</a:t>
            </a:r>
            <a:endParaRPr lang="ar-SA" sz="1700" dirty="0"/>
          </a:p>
          <a:p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كاملة مع الردود وعدد الضيوف</a:t>
            </a:r>
            <a:endParaRPr lang="ar-SA" sz="17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1691640"/>
          <a:ext cx="56692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القاعة: تقويم الحجوزات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يرى في تقويم شهري متى القاعة مشغولة ومتى متاحة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617720"/>
          </a:xfrm>
          <a:prstGeom prst="roundRect">
            <a:avLst>
              <a:gd name="adj" fmla="val 2970"/>
            </a:avLst>
          </a:prstGeom>
          <a:solidFill>
            <a:srgbClr val="F8F3EA"/>
          </a:solidFill>
          <a:ln w="12700">
            <a:solidFill>
              <a:srgbClr val="F8F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أكتوبر 2026</a:t>
            </a:r>
            <a:endParaRPr lang="ar-S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04411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</a:t>
            </a:r>
            <a:endParaRPr lang="ar-SA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42263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إثنين</a:t>
            </a:r>
            <a:endParaRPr lang="ar-SA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80114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ثلاثاء</a:t>
            </a:r>
            <a:endParaRPr lang="ar-SA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17966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أربعاء</a:t>
            </a:r>
            <a:endParaRPr lang="ar-SA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55817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خميس</a:t>
            </a:r>
            <a:endParaRPr lang="ar-SA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93669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جمعة</a:t>
            </a:r>
            <a:endParaRPr lang="ar-SA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423160"/>
            <a:ext cx="8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سبت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2492393" y="2770632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92393" y="2770632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30245" y="2770632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30245" y="2770632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" y="2770632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770632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0987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0987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8839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8839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16690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16690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54542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54542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92393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92393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30245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30245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" y="3374136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3374136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0987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0987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78839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78839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16690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16690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354542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54542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492393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492393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630245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30245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8096" y="3977640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" y="3977640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40987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40987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78839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078839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216690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216690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354542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54542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492393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492393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630245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630245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68096" y="4581144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68096" y="4581144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940987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940987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078839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078839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216690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216690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354542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354542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492393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492393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630245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630245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68096" y="5184648"/>
            <a:ext cx="788997" cy="530352"/>
          </a:xfrm>
          <a:prstGeom prst="roundRect">
            <a:avLst>
              <a:gd name="adj" fmla="val 13793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68096" y="5184648"/>
            <a:ext cx="7889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1274552" y="1920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31520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مشغول – توجد مناسبة في هذا اليوم</a:t>
            </a:r>
            <a:endParaRPr lang="ar-SA" sz="1600" dirty="0"/>
          </a:p>
        </p:txBody>
      </p:sp>
      <p:sp>
        <p:nvSpPr>
          <p:cNvPr id="77" name="Shape 75"/>
          <p:cNvSpPr/>
          <p:nvPr/>
        </p:nvSpPr>
        <p:spPr>
          <a:xfrm>
            <a:off x="11274552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F667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31520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 – اليوم فارغ</a:t>
            </a:r>
            <a:endParaRPr lang="ar-SA" sz="1600" dirty="0"/>
          </a:p>
        </p:txBody>
      </p:sp>
      <p:sp>
        <p:nvSpPr>
          <p:cNvPr id="79" name="Shape 77"/>
          <p:cNvSpPr/>
          <p:nvPr/>
        </p:nvSpPr>
        <p:spPr>
          <a:xfrm>
            <a:off x="10972800" y="3154680"/>
            <a:ext cx="685800" cy="68580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8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1108" y="3332988"/>
            <a:ext cx="329184" cy="329184"/>
          </a:xfrm>
          <a:prstGeom prst="rect">
            <a:avLst/>
          </a:prstGeom>
        </p:spPr>
      </p:pic>
      <p:sp>
        <p:nvSpPr>
          <p:cNvPr id="81" name="Text 78"/>
          <p:cNvSpPr txBox="1"/>
          <p:nvPr/>
        </p:nvSpPr>
        <p:spPr>
          <a:xfrm>
            <a:off x="7315200" y="31363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شهرية واضحة</a:t>
            </a:r>
            <a:endParaRPr lang="ar-SA" sz="1800" dirty="0"/>
          </a:p>
        </p:txBody>
      </p:sp>
      <p:sp>
        <p:nvSpPr>
          <p:cNvPr id="82" name="Text 79"/>
          <p:cNvSpPr txBox="1"/>
          <p:nvPr/>
        </p:nvSpPr>
        <p:spPr>
          <a:xfrm>
            <a:off x="7315200" y="3520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التنقل بين الأشهر ورؤية الأيام المحجوزة فوراً</a:t>
            </a:r>
            <a:endParaRPr lang="ar-SA" sz="1400" dirty="0"/>
          </a:p>
        </p:txBody>
      </p:sp>
      <p:sp>
        <p:nvSpPr>
          <p:cNvPr id="83" name="Shape 80"/>
          <p:cNvSpPr/>
          <p:nvPr/>
        </p:nvSpPr>
        <p:spPr>
          <a:xfrm>
            <a:off x="10972800" y="4233672"/>
            <a:ext cx="685800" cy="68580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108" y="4411980"/>
            <a:ext cx="329184" cy="329184"/>
          </a:xfrm>
          <a:prstGeom prst="rect">
            <a:avLst/>
          </a:prstGeom>
        </p:spPr>
      </p:pic>
      <p:sp>
        <p:nvSpPr>
          <p:cNvPr id="85" name="Text 81"/>
          <p:cNvSpPr txBox="1"/>
          <p:nvPr/>
        </p:nvSpPr>
        <p:spPr>
          <a:xfrm>
            <a:off x="7315200" y="4215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مناسبات هذا الشهر</a:t>
            </a:r>
            <a:endParaRPr lang="ar-SA" sz="1800" dirty="0"/>
          </a:p>
        </p:txBody>
      </p:sp>
      <p:sp>
        <p:nvSpPr>
          <p:cNvPr id="86" name="Text 82"/>
          <p:cNvSpPr txBox="1"/>
          <p:nvPr/>
        </p:nvSpPr>
        <p:spPr>
          <a:xfrm>
            <a:off x="7315200" y="4599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بكل مناسبة: الاسم، التاريخ والساعة</a:t>
            </a:r>
            <a:endParaRPr lang="ar-SA" sz="1400" dirty="0"/>
          </a:p>
        </p:txBody>
      </p:sp>
      <p:sp>
        <p:nvSpPr>
          <p:cNvPr id="87" name="Shape 83"/>
          <p:cNvSpPr/>
          <p:nvPr/>
        </p:nvSpPr>
        <p:spPr>
          <a:xfrm>
            <a:off x="10972800" y="5312664"/>
            <a:ext cx="685800" cy="685800"/>
          </a:xfrm>
          <a:prstGeom prst="ellipse">
            <a:avLst/>
          </a:prstGeom>
          <a:solidFill>
            <a:srgbClr val="171C26"/>
          </a:solidFill>
          <a:ln w="12700">
            <a:solidFill>
              <a:srgbClr val="171C26"/>
            </a:solidFill>
            <a:prstDash val="solid"/>
          </a:ln>
        </p:spPr>
      </p:sp>
      <p:pic>
        <p:nvPicPr>
          <p:cNvPr id="8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108" y="5490972"/>
            <a:ext cx="329184" cy="329184"/>
          </a:xfrm>
          <a:prstGeom prst="rect">
            <a:avLst/>
          </a:prstGeom>
        </p:spPr>
      </p:pic>
      <p:sp>
        <p:nvSpPr>
          <p:cNvPr id="89" name="Text 84"/>
          <p:cNvSpPr txBox="1"/>
          <p:nvPr/>
        </p:nvSpPr>
        <p:spPr>
          <a:xfrm>
            <a:off x="7315200" y="52943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قاعة تقويمها</a:t>
            </a:r>
            <a:endParaRPr lang="ar-SA" sz="1800" dirty="0"/>
          </a:p>
        </p:txBody>
      </p:sp>
      <p:sp>
        <p:nvSpPr>
          <p:cNvPr id="90" name="Text 85"/>
          <p:cNvSpPr txBox="1"/>
          <p:nvPr/>
        </p:nvSpPr>
        <p:spPr>
          <a:xfrm>
            <a:off x="7315200" y="56784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يملك أكثر من قاعة يختار القاعة من القائمة</a:t>
            </a:r>
            <a:endParaRPr lang="ar-SA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القاعة: صفحة القاعة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قاعة صفحة خاصة تعرض كل تفاصيلها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61772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26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القاعة</a:t>
            </a:r>
            <a:endParaRPr lang="ar-SA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[اسم القاعة]</a:t>
            </a:r>
            <a:endParaRPr lang="ar-SA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43891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6160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المدينة والعنوان الكامل</a:t>
            </a:r>
            <a:endParaRPr lang="ar-SA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3891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4343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500 ضيف</a:t>
            </a:r>
            <a:endParaRPr lang="ar-SA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89204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566160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 القاعة</a:t>
            </a:r>
            <a:endParaRPr lang="ar-SA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89204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68680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إضافية</a:t>
            </a:r>
            <a:endParaRPr lang="ar-SA" sz="1300" dirty="0"/>
          </a:p>
        </p:txBody>
      </p:sp>
      <p:sp>
        <p:nvSpPr>
          <p:cNvPr id="17" name="Shape 10"/>
          <p:cNvSpPr/>
          <p:nvPr/>
        </p:nvSpPr>
        <p:spPr>
          <a:xfrm>
            <a:off x="3657600" y="5532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E4F6FD"/>
          </a:solidFill>
          <a:ln w="12700">
            <a:solidFill>
              <a:srgbClr val="E4F6FD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3657600" y="5532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A8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</a:t>
            </a:r>
            <a:endParaRPr lang="ar-SA" sz="1300" dirty="0"/>
          </a:p>
        </p:txBody>
      </p:sp>
      <p:sp>
        <p:nvSpPr>
          <p:cNvPr id="19" name="Shape 12"/>
          <p:cNvSpPr/>
          <p:nvPr/>
        </p:nvSpPr>
        <p:spPr>
          <a:xfrm>
            <a:off x="868680" y="55321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68680" y="5532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ar-SA" sz="1300" dirty="0"/>
          </a:p>
        </p:txBody>
      </p:sp>
      <p:sp>
        <p:nvSpPr>
          <p:cNvPr id="21" name="Shape 14"/>
          <p:cNvSpPr/>
          <p:nvPr/>
        </p:nvSpPr>
        <p:spPr>
          <a:xfrm>
            <a:off x="6903720" y="1737360"/>
            <a:ext cx="47365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10789920" y="1993392"/>
            <a:ext cx="685800" cy="68580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8228" y="2171700"/>
            <a:ext cx="329184" cy="32918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1780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التفاصيل في مكان واحد</a:t>
            </a:r>
            <a:endParaRPr lang="ar-SA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7178040" y="23591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الاسم، الصورة، المدينة والعنوان، السعة القصوى، الهاتف والملاحظات</a:t>
            </a:r>
            <a:endParaRPr lang="ar-SA" sz="1400" dirty="0"/>
          </a:p>
        </p:txBody>
      </p:sp>
      <p:sp>
        <p:nvSpPr>
          <p:cNvPr id="26" name="Shape 18"/>
          <p:cNvSpPr/>
          <p:nvPr/>
        </p:nvSpPr>
        <p:spPr>
          <a:xfrm>
            <a:off x="6903720" y="3310128"/>
            <a:ext cx="47365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0789920" y="3566160"/>
            <a:ext cx="685800" cy="68580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8228" y="374446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178040" y="3493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وملاحة</a:t>
            </a:r>
            <a:endParaRPr lang="ar-SA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717804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 مباشرة لـ Waze و-Google Maps للوصول إلى القاعة</a:t>
            </a:r>
            <a:endParaRPr lang="ar-SA" sz="1400" dirty="0"/>
          </a:p>
        </p:txBody>
      </p:sp>
      <p:sp>
        <p:nvSpPr>
          <p:cNvPr id="31" name="Shape 22"/>
          <p:cNvSpPr/>
          <p:nvPr/>
        </p:nvSpPr>
        <p:spPr>
          <a:xfrm>
            <a:off x="6903720" y="4882896"/>
            <a:ext cx="47365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10789920" y="5138928"/>
            <a:ext cx="685800" cy="685800"/>
          </a:xfrm>
          <a:prstGeom prst="ellipse">
            <a:avLst/>
          </a:prstGeom>
          <a:solidFill>
            <a:srgbClr val="B07D2C"/>
          </a:solidFill>
          <a:ln w="12700">
            <a:solidFill>
              <a:srgbClr val="B07D2C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8228" y="5317236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178040" y="50657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المناسبات القادمة في القاعة</a:t>
            </a:r>
            <a:endParaRPr lang="ar-SA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7178040" y="5504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المناسبات المحجوزة، مرتبطة بتقويم الحجوزات</a:t>
            </a:r>
            <a:endParaRPr lang="ar-SA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rgbClr val="171C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يرى ماذا؟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5F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مستخدم يرى فقط ما يخصه</a:t>
            </a:r>
            <a:endParaRPr lang="ar-SA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737360"/>
                <a:gridCol w="1737360"/>
                <a:gridCol w="1737360"/>
                <a:gridCol w="17373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الميزة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المدعو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صاحب المناسبة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صاحب القاعة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مدير / أدمين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71C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فتح الدعوة وتأكيد الحضور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71C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«دعواتي» – قائمة المناسبات المدعو إليها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71C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طلب فتح مناسبة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9BE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71C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إحصائيات الردود وتصدير Excel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9BE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9BE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71C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تقويم الحجوزات وصفحة القاعة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9BE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9BE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232A38"/>
          </a:solidFill>
          <a:ln w="12700">
            <a:solidFill>
              <a:srgbClr val="232A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206240" y="17373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حمّلوا التطبيق الآن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27432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C9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امسحوا الرمز بكاميرا الهاتف – سينقلكم مباشرة إلى متجر التطبيقات المناسب (Android / iPhone)</a:t>
            </a:r>
            <a:endParaRPr lang="ar-SA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daawatey.com/get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937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أسئلة؟ يسعدنا مساعدتكم</a:t>
            </a:r>
            <a:endParaRPr lang="ar-SA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30175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دعوتي – طريقة استخدام التطبيق</dc:title>
  <dc:subject>PptxGenJS Presentation</dc:subject>
  <dc:creator>PptxGenJS</dc:creator>
  <cp:lastModifiedBy>PptxGenJS</cp:lastModifiedBy>
  <cp:revision>1</cp:revision>
  <dcterms:created xsi:type="dcterms:W3CDTF">2026-10-01T11:33:14Z</dcterms:created>
  <dcterms:modified xsi:type="dcterms:W3CDTF">2026-10-01T11:33:14Z</dcterms:modified>
</cp:coreProperties>
</file>