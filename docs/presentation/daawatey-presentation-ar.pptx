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171C26"/>
                </a:solidFill>
                <a:latin typeface="Arial"/>
              </a:defRPr>
            </a:pPr>
            <a:r>
              <a:rPr sz="1800" b="0" i="0" u="none" strike="noStrike">
                <a:solidFill>
                  <a:srgbClr val="171C26"/>
                </a:solidFill>
                <a:latin typeface="Arial"/>
              </a:rPr>
              <a:t>ملخص الردود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الردود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8B57"/>
              </a:solidFill>
              <a:effectLst/>
            </c:spPr>
          </c:dPt>
          <c:dPt>
            <c:idx val="1"/>
            <c:bubble3D val="0"/>
            <c:spPr>
              <a:solidFill>
                <a:srgbClr val="B5473A"/>
              </a:solidFill>
              <a:effectLst/>
            </c:spPr>
          </c:dPt>
          <c:dPt>
            <c:idx val="2"/>
            <c:bubble3D val="0"/>
            <c:spPr>
              <a:solidFill>
                <a:srgbClr val="C98A1B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مؤكد الحضور</c:v>
                </c:pt>
                <c:pt idx="1">
                  <c:v>اعتذر</c:v>
                </c:pt>
                <c:pt idx="2">
                  <c:v>بانتظار الرد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180</c:v>
                </c:pt>
                <c:pt idx="1">
                  <c:v>15</c:v>
                </c:pt>
                <c:pt idx="2">
                  <c:v>55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1E2330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أهلاً وسهلاً. اليوم سنتعرف على تطبيق دعوتي، الذي ستديرون من خلاله دعوات مناسبتكم عندنا في القاعة. (قبل العرض: استبدلوا [اسم القاعة] باسم قاعتكم.)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نظرة عامة على المسار كله. في الشرائح التالية سنمر على كل خطوة بالتفصيل.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أسهل طريقة للدخول: رقم الهاتف فقط. يكتب الرقم، يصله رمز من 6 أرقام برسالة SMS، يدخله – وانتهى. لا حاجة لتذكر كلمة مرور. والأهم: لأن الدخول برقم الهاتف، كل الدعوات التي أُرسلت لهذا الرقم تظهر له تلقائياً. الأرقام في الصورة مثال فقط.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بعد الدخول الأول، يطلب التطبيق إكمال الملف الشخصي: الاسم الأول، اسم العائلة والمدينة. رقم الهاتف موجود مسبقاً لأن الدخول تم به. يمكن أيضاً اختيار لغة التطبيق. الأسماء والأرقام في الصورة مثال فقط.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صاحب المناسبة لا يحتاج أن يفهم بالتكنولوجيا: يحمّل التطبيق، يسجل، ويضغط على «طلب فتح مناسبة». الأهم: أن يجهز قائمة المدعوين مع أرقام الهواتف، لأن الدعوة تُرسل لكل واحد عبر SMS.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هنا تدخل كل المعلومات: تفاصيل المناسبة، صورة الدعوة كما صممها صاحب المناسبة، وقائمة المدعوين. يمكن إضافة مدعوين في أي وقت، حتى بعد الإرسال.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بعد تجهيز المناسبة، النظام يرسل رسالة SMS لكل مدعو مع رابط شخصي. ومن عنده التطبيق يحصل أيضاً على إشعار. نص الرسالة في الصورة مثال فقط.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هذا ما يراه المدعو. الأمر بسيط حتى لكبار السن: ضغطة على الرابط، ثم ضغطة على «حاضر» أو «اعتذر». الرد يصل فوراً لصاحب المناسبة.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من يحمّل التطبيق يرى في صفحة «دعواتي» كل المناسبات التي دُعي إليها. الشرط الوحيد: التسجيل بنفس رقم الهاتف الذي وصلت إليه الدعوة.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أهم شاشة لصاحب المناسبة: كم أكدوا الحضور، كم اعتذروا، ومن لم يرد بعد – وكلها تتحدث تلقائياً. ومن هنا يُصدَّر تقرير Excel نعتمد عليه في القاعة للعدد النهائي وترتيب الطاولات. (الملف بصيغة CSV ويفتح مباشرة في Excel.)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الشاشة لأصحاب القاعات: تقويم يبين الأيام المحجوزة باللون الذهبي والأيام المتاحة بالأبيض. التواريخ في الصورة للتوضيح فقط.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كل صاحب قاعة لديه صفحة خاصة بقاعته مع كل التفاصيل. الأرقام والتفاصيل في الصورة مثال فقط.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ملخص سريع للصلاحيات. صاحب المناسبة يرى الإحصائيات لمناسبته فقط، وصاحب القاعة يرى قاعته فقط.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اتركوا هذه الشريحة على الشاشة وقت الأسئلة، حتى يتمكن الجميع من مسح الرمز وتحميل التطبيق.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486400" cy="5486400"/>
          </a:xfrm>
          <a:prstGeom prst="ellipse">
            <a:avLst/>
          </a:prstGeom>
          <a:solidFill>
            <a:srgbClr val="232A38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4206240"/>
            <a:ext cx="4114800" cy="4114800"/>
          </a:xfrm>
          <a:prstGeom prst="ellipse">
            <a:avLst/>
          </a:prstGeom>
          <a:solidFill>
            <a:srgbClr val="232A38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41280" y="502920"/>
            <a:ext cx="1097280" cy="109728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26573" y="788213"/>
            <a:ext cx="526694" cy="52669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18288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E8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دعوتي · Daawatey</a:t>
            </a:r>
            <a:endParaRPr lang="ar-SA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46888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كيف نستخدم تطبيق دعوتي؟</a:t>
            </a:r>
            <a:endParaRPr lang="ar-SA" sz="50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5661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C9CF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طلب فتح المناسبة… حتى تأكيد حضور آخر ضيف</a:t>
            </a:r>
            <a:endParaRPr lang="ar-SA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E8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مقدَّم من: [اسم القاعة]</a:t>
            </a:r>
            <a:endParaRPr lang="ar-SA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الصورة الكاملة: 5 خطوات</a:t>
            </a:r>
            <a:endParaRPr lang="ar-SA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هكذا تسير المناسبة في التطبيق من البداية حتى النهاية</a:t>
            </a:r>
            <a:endParaRPr lang="ar-SA" sz="1700" dirty="0"/>
          </a:p>
        </p:txBody>
      </p:sp>
      <p:sp>
        <p:nvSpPr>
          <p:cNvPr id="4" name="Shape 2"/>
          <p:cNvSpPr/>
          <p:nvPr/>
        </p:nvSpPr>
        <p:spPr>
          <a:xfrm>
            <a:off x="9624060" y="2103120"/>
            <a:ext cx="2011680" cy="3840480"/>
          </a:xfrm>
          <a:prstGeom prst="roundRect">
            <a:avLst>
              <a:gd name="adj" fmla="val 6818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378440" y="1856232"/>
            <a:ext cx="502920" cy="50292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378440" y="1856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0081260" y="2606040"/>
            <a:ext cx="1097280" cy="1097280"/>
          </a:xfrm>
          <a:prstGeom prst="ellipse">
            <a:avLst/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6553" y="2891333"/>
            <a:ext cx="526694" cy="52669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669780" y="3931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طلب فتح مناسبة</a:t>
            </a:r>
            <a:endParaRPr lang="ar-SA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9761220" y="452628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4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صاحب المناسبة يطلب ويسلّم التفاصيل وقائمة المدعوين</a:t>
            </a:r>
            <a:endParaRPr lang="ar-SA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5460" y="3063240"/>
            <a:ext cx="201168" cy="20116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56348" y="2103120"/>
            <a:ext cx="2011680" cy="3840480"/>
          </a:xfrm>
          <a:prstGeom prst="roundRect">
            <a:avLst>
              <a:gd name="adj" fmla="val 6818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110728" y="1856232"/>
            <a:ext cx="502920" cy="50292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110728" y="1856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7813548" y="2606040"/>
            <a:ext cx="1097280" cy="1097280"/>
          </a:xfrm>
          <a:prstGeom prst="ellipse">
            <a:avLst/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8841" y="2891333"/>
            <a:ext cx="526694" cy="52669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402068" y="3931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تجهيز المناسبة</a:t>
            </a:r>
            <a:endParaRPr lang="ar-SA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493508" y="452628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4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إدخال التفاصيل، صورة الدعوة المصممة، والمدعوين</a:t>
            </a:r>
            <a:endParaRPr lang="ar-SA" sz="14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7748" y="3063240"/>
            <a:ext cx="201168" cy="201168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5088636" y="2103120"/>
            <a:ext cx="2011680" cy="3840480"/>
          </a:xfrm>
          <a:prstGeom prst="roundRect">
            <a:avLst>
              <a:gd name="adj" fmla="val 6818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5843016" y="1856232"/>
            <a:ext cx="502920" cy="50292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843016" y="1856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5545836" y="2606040"/>
            <a:ext cx="1097280" cy="1097280"/>
          </a:xfrm>
          <a:prstGeom prst="ellipse">
            <a:avLst/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1129" y="2891333"/>
            <a:ext cx="526694" cy="526694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134356" y="3931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إرسال الدعوات</a:t>
            </a:r>
            <a:endParaRPr lang="ar-SA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5225796" y="452628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4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رسالة SMS مع رابط شخصي لكل مدعو</a:t>
            </a:r>
            <a:endParaRPr lang="ar-SA" sz="1400" dirty="0"/>
          </a:p>
        </p:txBody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0036" y="3063240"/>
            <a:ext cx="201168" cy="201168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2820924" y="2103120"/>
            <a:ext cx="2011680" cy="3840480"/>
          </a:xfrm>
          <a:prstGeom prst="roundRect">
            <a:avLst>
              <a:gd name="adj" fmla="val 6818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1"/>
          <p:cNvSpPr/>
          <p:nvPr/>
        </p:nvSpPr>
        <p:spPr>
          <a:xfrm>
            <a:off x="3575304" y="1856232"/>
            <a:ext cx="502920" cy="50292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3575304" y="1856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Shape 23"/>
          <p:cNvSpPr/>
          <p:nvPr/>
        </p:nvSpPr>
        <p:spPr>
          <a:xfrm>
            <a:off x="3278124" y="2606040"/>
            <a:ext cx="1097280" cy="109728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63417" y="2891333"/>
            <a:ext cx="526694" cy="52669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2866644" y="3931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المدعو يرد</a:t>
            </a:r>
            <a:endParaRPr lang="ar-SA" sz="1600" dirty="0"/>
          </a:p>
        </p:txBody>
      </p:sp>
      <p:sp>
        <p:nvSpPr>
          <p:cNvPr id="34" name="Text 25"/>
          <p:cNvSpPr txBox="1"/>
          <p:nvPr/>
        </p:nvSpPr>
        <p:spPr>
          <a:xfrm>
            <a:off x="2958084" y="452628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4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يفتح الدعوة ويؤكد: حاضر أو معتذر</a:t>
            </a:r>
            <a:endParaRPr lang="ar-SA" sz="140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92324" y="3063240"/>
            <a:ext cx="201168" cy="201168"/>
          </a:xfrm>
          <a:prstGeom prst="rect">
            <a:avLst/>
          </a:prstGeom>
        </p:spPr>
      </p:pic>
      <p:sp>
        <p:nvSpPr>
          <p:cNvPr id="36" name="Shape 26"/>
          <p:cNvSpPr/>
          <p:nvPr/>
        </p:nvSpPr>
        <p:spPr>
          <a:xfrm>
            <a:off x="553212" y="2103120"/>
            <a:ext cx="2011680" cy="3840480"/>
          </a:xfrm>
          <a:prstGeom prst="roundRect">
            <a:avLst>
              <a:gd name="adj" fmla="val 6818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Shape 27"/>
          <p:cNvSpPr/>
          <p:nvPr/>
        </p:nvSpPr>
        <p:spPr>
          <a:xfrm>
            <a:off x="1307592" y="1856232"/>
            <a:ext cx="502920" cy="50292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1307592" y="1856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39" name="Shape 29"/>
          <p:cNvSpPr/>
          <p:nvPr/>
        </p:nvSpPr>
        <p:spPr>
          <a:xfrm>
            <a:off x="1010412" y="2606040"/>
            <a:ext cx="1097280" cy="1097280"/>
          </a:xfrm>
          <a:prstGeom prst="ellipse">
            <a:avLst/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</p:spPr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95705" y="2891333"/>
            <a:ext cx="526694" cy="526694"/>
          </a:xfrm>
          <a:prstGeom prst="rect">
            <a:avLst/>
          </a:prstGeom>
        </p:spPr>
      </p:pic>
      <p:sp>
        <p:nvSpPr>
          <p:cNvPr id="41" name="Text 30"/>
          <p:cNvSpPr txBox="1"/>
          <p:nvPr/>
        </p:nvSpPr>
        <p:spPr>
          <a:xfrm>
            <a:off x="598932" y="39319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متابعة وتقرير</a:t>
            </a:r>
            <a:endParaRPr lang="ar-SA" sz="1600" dirty="0"/>
          </a:p>
        </p:txBody>
      </p:sp>
      <p:sp>
        <p:nvSpPr>
          <p:cNvPr id="42" name="Text 31"/>
          <p:cNvSpPr txBox="1"/>
          <p:nvPr/>
        </p:nvSpPr>
        <p:spPr>
          <a:xfrm>
            <a:off x="690372" y="4526280"/>
            <a:ext cx="1737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4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إحصائيات مباشرة وتصدير القائمة إلى Excel</a:t>
            </a:r>
            <a:endParaRPr lang="ar-SA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تسجيل الدخول: رقم الهاتف فقط</a:t>
            </a:r>
            <a:endParaRPr lang="ar-SA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بدون كلمة مرور وبدون بريد إلكتروني – خطوتان وتدخل</a:t>
            </a:r>
            <a:endParaRPr lang="ar-SA" sz="1700" dirty="0"/>
          </a:p>
        </p:txBody>
      </p:sp>
      <p:sp>
        <p:nvSpPr>
          <p:cNvPr id="4" name="Shape 2"/>
          <p:cNvSpPr/>
          <p:nvPr/>
        </p:nvSpPr>
        <p:spPr>
          <a:xfrm>
            <a:off x="3429000" y="1645920"/>
            <a:ext cx="2606040" cy="4983480"/>
          </a:xfrm>
          <a:prstGeom prst="roundRect">
            <a:avLst>
              <a:gd name="adj" fmla="val 12281"/>
            </a:avLst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547872" y="1993392"/>
            <a:ext cx="2368296" cy="4416552"/>
          </a:xfrm>
          <a:prstGeom prst="roundRect">
            <a:avLst>
              <a:gd name="adj" fmla="val 69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20540" y="1773936"/>
            <a:ext cx="822960" cy="91440"/>
          </a:xfrm>
          <a:prstGeom prst="roundRect">
            <a:avLst>
              <a:gd name="adj" fmla="val 50000"/>
            </a:avLst>
          </a:prstGeom>
          <a:solidFill>
            <a:srgbClr val="232A38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47872" y="2221992"/>
            <a:ext cx="2368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مرحباً بك في دعوتي</a:t>
            </a:r>
            <a:endParaRPr lang="ar-SA" sz="1300" dirty="0"/>
          </a:p>
        </p:txBody>
      </p:sp>
      <p:sp>
        <p:nvSpPr>
          <p:cNvPr id="8" name="Shape 6"/>
          <p:cNvSpPr/>
          <p:nvPr/>
        </p:nvSpPr>
        <p:spPr>
          <a:xfrm>
            <a:off x="4411980" y="2724912"/>
            <a:ext cx="640080" cy="64008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8401" y="2891333"/>
            <a:ext cx="307238" cy="30723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3547872" y="3502152"/>
            <a:ext cx="2368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التحقق من رقم هاتفك</a:t>
            </a:r>
            <a:endParaRPr lang="ar-SA" sz="1100" dirty="0"/>
          </a:p>
        </p:txBody>
      </p:sp>
      <p:sp>
        <p:nvSpPr>
          <p:cNvPr id="11" name="Shape 8"/>
          <p:cNvSpPr/>
          <p:nvPr/>
        </p:nvSpPr>
        <p:spPr>
          <a:xfrm>
            <a:off x="3730752" y="3913632"/>
            <a:ext cx="2002536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9050">
            <a:solidFill>
              <a:srgbClr val="B07D2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730752" y="3913632"/>
            <a:ext cx="2002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050-1234567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3685032" y="4416552"/>
            <a:ext cx="2093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9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سنرسل رمز تحقق مكوناً من 6 أرقام إلى رقمك</a:t>
            </a:r>
            <a:endParaRPr lang="ar-SA" sz="900" dirty="0"/>
          </a:p>
        </p:txBody>
      </p:sp>
      <p:sp>
        <p:nvSpPr>
          <p:cNvPr id="14" name="Shape 11"/>
          <p:cNvSpPr/>
          <p:nvPr/>
        </p:nvSpPr>
        <p:spPr>
          <a:xfrm>
            <a:off x="3730752" y="5010912"/>
            <a:ext cx="2002536" cy="411480"/>
          </a:xfrm>
          <a:prstGeom prst="roundRect">
            <a:avLst>
              <a:gd name="adj" fmla="val 50000"/>
            </a:avLst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730752" y="5010912"/>
            <a:ext cx="2002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إرسال رمز التحقق</a:t>
            </a:r>
            <a:endParaRPr lang="ar-SA" sz="11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3931920"/>
            <a:ext cx="274320" cy="27432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548640" y="1645920"/>
            <a:ext cx="2606040" cy="4983480"/>
          </a:xfrm>
          <a:prstGeom prst="roundRect">
            <a:avLst>
              <a:gd name="adj" fmla="val 12281"/>
            </a:avLst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67512" y="1993392"/>
            <a:ext cx="2368296" cy="4416552"/>
          </a:xfrm>
          <a:prstGeom prst="roundRect">
            <a:avLst>
              <a:gd name="adj" fmla="val 695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440180" y="1773936"/>
            <a:ext cx="822960" cy="91440"/>
          </a:xfrm>
          <a:prstGeom prst="roundRect">
            <a:avLst>
              <a:gd name="adj" fmla="val 50000"/>
            </a:avLst>
          </a:prstGeom>
          <a:solidFill>
            <a:srgbClr val="232A38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67512" y="2221992"/>
            <a:ext cx="2368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أدخل رمز التحقق</a:t>
            </a:r>
            <a:endParaRPr lang="ar-SA" sz="1300" dirty="0"/>
          </a:p>
        </p:txBody>
      </p:sp>
      <p:sp>
        <p:nvSpPr>
          <p:cNvPr id="21" name="Shape 17"/>
          <p:cNvSpPr/>
          <p:nvPr/>
        </p:nvSpPr>
        <p:spPr>
          <a:xfrm>
            <a:off x="1531620" y="2724912"/>
            <a:ext cx="640080" cy="640080"/>
          </a:xfrm>
          <a:prstGeom prst="ellipse">
            <a:avLst/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8041" y="2891333"/>
            <a:ext cx="307238" cy="30723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667512" y="3502152"/>
            <a:ext cx="2368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وصلك برسالة SMS</a:t>
            </a:r>
            <a:endParaRPr lang="ar-SA" sz="1100" dirty="0"/>
          </a:p>
        </p:txBody>
      </p:sp>
      <p:sp>
        <p:nvSpPr>
          <p:cNvPr id="24" name="Shape 19"/>
          <p:cNvSpPr/>
          <p:nvPr/>
        </p:nvSpPr>
        <p:spPr>
          <a:xfrm>
            <a:off x="836676" y="3913632"/>
            <a:ext cx="292608" cy="41148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9050">
            <a:solidFill>
              <a:srgbClr val="B07D2C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36676" y="3913632"/>
            <a:ext cx="29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Shape 21"/>
          <p:cNvSpPr/>
          <p:nvPr/>
        </p:nvSpPr>
        <p:spPr>
          <a:xfrm>
            <a:off x="1184148" y="3913632"/>
            <a:ext cx="292608" cy="41148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9050">
            <a:solidFill>
              <a:srgbClr val="B07D2C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1184148" y="3913632"/>
            <a:ext cx="29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Shape 23"/>
          <p:cNvSpPr/>
          <p:nvPr/>
        </p:nvSpPr>
        <p:spPr>
          <a:xfrm>
            <a:off x="1531620" y="3913632"/>
            <a:ext cx="292608" cy="41148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9050">
            <a:solidFill>
              <a:srgbClr val="B07D2C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1531620" y="3913632"/>
            <a:ext cx="29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0" name="Shape 25"/>
          <p:cNvSpPr/>
          <p:nvPr/>
        </p:nvSpPr>
        <p:spPr>
          <a:xfrm>
            <a:off x="1879092" y="3913632"/>
            <a:ext cx="292608" cy="41148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9050">
            <a:solidFill>
              <a:srgbClr val="B07D2C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1879092" y="3913632"/>
            <a:ext cx="29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32" name="Shape 27"/>
          <p:cNvSpPr/>
          <p:nvPr/>
        </p:nvSpPr>
        <p:spPr>
          <a:xfrm>
            <a:off x="2226564" y="3913632"/>
            <a:ext cx="292608" cy="41148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9050">
            <a:solidFill>
              <a:srgbClr val="B07D2C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2226564" y="3913632"/>
            <a:ext cx="29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34" name="Shape 29"/>
          <p:cNvSpPr/>
          <p:nvPr/>
        </p:nvSpPr>
        <p:spPr>
          <a:xfrm>
            <a:off x="2574036" y="3913632"/>
            <a:ext cx="292608" cy="41148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9050">
            <a:solidFill>
              <a:srgbClr val="B07D2C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2574036" y="3913632"/>
            <a:ext cx="29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6" name="Shape 31"/>
          <p:cNvSpPr/>
          <p:nvPr/>
        </p:nvSpPr>
        <p:spPr>
          <a:xfrm>
            <a:off x="850392" y="5010912"/>
            <a:ext cx="2002536" cy="411480"/>
          </a:xfrm>
          <a:prstGeom prst="roundRect">
            <a:avLst>
              <a:gd name="adj" fmla="val 50000"/>
            </a:avLst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850392" y="5010912"/>
            <a:ext cx="20025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تأكيد الرمز</a:t>
            </a:r>
            <a:endParaRPr lang="ar-SA" sz="1100" dirty="0"/>
          </a:p>
        </p:txBody>
      </p:sp>
      <p:sp>
        <p:nvSpPr>
          <p:cNvPr id="38" name="Text 33"/>
          <p:cNvSpPr txBox="1"/>
          <p:nvPr/>
        </p:nvSpPr>
        <p:spPr>
          <a:xfrm>
            <a:off x="667512" y="555955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900" dirty="0">
                <a:solidFill>
                  <a:srgbClr val="1A6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إعادة إرسال الرمز</a:t>
            </a:r>
            <a:endParaRPr lang="ar-SA" sz="900" dirty="0"/>
          </a:p>
        </p:txBody>
      </p:sp>
      <p:sp>
        <p:nvSpPr>
          <p:cNvPr id="39" name="Shape 34"/>
          <p:cNvSpPr/>
          <p:nvPr/>
        </p:nvSpPr>
        <p:spPr>
          <a:xfrm>
            <a:off x="6400800" y="1691640"/>
            <a:ext cx="5239512" cy="118872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0" name="Shape 35"/>
          <p:cNvSpPr/>
          <p:nvPr/>
        </p:nvSpPr>
        <p:spPr>
          <a:xfrm>
            <a:off x="10744200" y="1901952"/>
            <a:ext cx="749808" cy="749808"/>
          </a:xfrm>
          <a:prstGeom prst="ellipse">
            <a:avLst/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</p:spPr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39150" y="2096902"/>
            <a:ext cx="359908" cy="359908"/>
          </a:xfrm>
          <a:prstGeom prst="rect">
            <a:avLst/>
          </a:prstGeom>
        </p:spPr>
      </p:pic>
      <p:sp>
        <p:nvSpPr>
          <p:cNvPr id="42" name="Text 36"/>
          <p:cNvSpPr txBox="1"/>
          <p:nvPr/>
        </p:nvSpPr>
        <p:spPr>
          <a:xfrm>
            <a:off x="6675120" y="185623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9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يكتب رقم هاتفه</a:t>
            </a:r>
            <a:endParaRPr lang="ar-SA" sz="1900" dirty="0"/>
          </a:p>
        </p:txBody>
      </p:sp>
      <p:sp>
        <p:nvSpPr>
          <p:cNvPr id="43" name="Text 37"/>
          <p:cNvSpPr txBox="1"/>
          <p:nvPr/>
        </p:nvSpPr>
        <p:spPr>
          <a:xfrm>
            <a:off x="6675120" y="2295144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ويضغط «إرسال رمز التحقق»</a:t>
            </a:r>
            <a:endParaRPr lang="ar-SA" sz="1400" dirty="0"/>
          </a:p>
        </p:txBody>
      </p:sp>
      <p:sp>
        <p:nvSpPr>
          <p:cNvPr id="44" name="Shape 38"/>
          <p:cNvSpPr/>
          <p:nvPr/>
        </p:nvSpPr>
        <p:spPr>
          <a:xfrm>
            <a:off x="6400800" y="3063240"/>
            <a:ext cx="5239512" cy="118872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5" name="Shape 39"/>
          <p:cNvSpPr/>
          <p:nvPr/>
        </p:nvSpPr>
        <p:spPr>
          <a:xfrm>
            <a:off x="10744200" y="3273552"/>
            <a:ext cx="749808" cy="749808"/>
          </a:xfrm>
          <a:prstGeom prst="ellipse">
            <a:avLst/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</p:spPr>
      </p:sp>
      <p:pic>
        <p:nvPicPr>
          <p:cNvPr id="4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39150" y="3468502"/>
            <a:ext cx="359908" cy="359908"/>
          </a:xfrm>
          <a:prstGeom prst="rect">
            <a:avLst/>
          </a:prstGeom>
        </p:spPr>
      </p:pic>
      <p:sp>
        <p:nvSpPr>
          <p:cNvPr id="47" name="Text 40"/>
          <p:cNvSpPr txBox="1"/>
          <p:nvPr/>
        </p:nvSpPr>
        <p:spPr>
          <a:xfrm>
            <a:off x="6675120" y="322783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9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يدخل الرمز الذي وصله</a:t>
            </a:r>
            <a:endParaRPr lang="ar-SA" sz="1900" dirty="0"/>
          </a:p>
        </p:txBody>
      </p:sp>
      <p:sp>
        <p:nvSpPr>
          <p:cNvPr id="48" name="Text 41"/>
          <p:cNvSpPr txBox="1"/>
          <p:nvPr/>
        </p:nvSpPr>
        <p:spPr>
          <a:xfrm>
            <a:off x="6675120" y="3666744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رمز من 6 أرقام برسالة SMS – وهذا كل شيء</a:t>
            </a:r>
            <a:endParaRPr lang="ar-SA" sz="1400" dirty="0"/>
          </a:p>
        </p:txBody>
      </p:sp>
      <p:sp>
        <p:nvSpPr>
          <p:cNvPr id="49" name="Shape 42"/>
          <p:cNvSpPr/>
          <p:nvPr/>
        </p:nvSpPr>
        <p:spPr>
          <a:xfrm>
            <a:off x="6400800" y="4434840"/>
            <a:ext cx="5239512" cy="118872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0" name="Shape 43"/>
          <p:cNvSpPr/>
          <p:nvPr/>
        </p:nvSpPr>
        <p:spPr>
          <a:xfrm>
            <a:off x="10744200" y="4645152"/>
            <a:ext cx="749808" cy="749808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pic>
        <p:nvPicPr>
          <p:cNvPr id="5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39150" y="4840102"/>
            <a:ext cx="359908" cy="359908"/>
          </a:xfrm>
          <a:prstGeom prst="rect">
            <a:avLst/>
          </a:prstGeom>
        </p:spPr>
      </p:pic>
      <p:sp>
        <p:nvSpPr>
          <p:cNvPr id="52" name="Text 44"/>
          <p:cNvSpPr txBox="1"/>
          <p:nvPr/>
        </p:nvSpPr>
        <p:spPr>
          <a:xfrm>
            <a:off x="6675120" y="459943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9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دعواته تنتظره تلقائياً</a:t>
            </a:r>
            <a:endParaRPr lang="ar-SA" sz="1900" dirty="0"/>
          </a:p>
        </p:txBody>
      </p:sp>
      <p:sp>
        <p:nvSpPr>
          <p:cNvPr id="53" name="Text 45"/>
          <p:cNvSpPr txBox="1"/>
          <p:nvPr/>
        </p:nvSpPr>
        <p:spPr>
          <a:xfrm>
            <a:off x="6675120" y="5038344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دعوة أُرسلت إلى هذا الرقم تظهر فوراً في «دعواتي»</a:t>
            </a:r>
            <a:endParaRPr lang="ar-SA" sz="1400" dirty="0"/>
          </a:p>
        </p:txBody>
      </p:sp>
      <p:sp>
        <p:nvSpPr>
          <p:cNvPr id="54" name="Text 46"/>
          <p:cNvSpPr txBox="1"/>
          <p:nvPr/>
        </p:nvSpPr>
        <p:spPr>
          <a:xfrm>
            <a:off x="6400800" y="5897880"/>
            <a:ext cx="5239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على iPhone يمكن أيضاً الدخول عبر حساب Apple</a:t>
            </a:r>
            <a:endParaRPr lang="ar-SA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الملف الشخصي «حسابي»</a:t>
            </a:r>
            <a:endParaRPr lang="ar-SA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مرة واحدة فقط بعد الدخول الأول – ثم يفتح التطبيق كاملاً</a:t>
            </a:r>
            <a:endParaRPr lang="ar-SA" sz="17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3017520" cy="5074920"/>
          </a:xfrm>
          <a:prstGeom prst="roundRect">
            <a:avLst>
              <a:gd name="adj" fmla="val 10606"/>
            </a:avLst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41832" y="1947672"/>
            <a:ext cx="2779776" cy="4507992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20240" y="1728216"/>
            <a:ext cx="822960" cy="91440"/>
          </a:xfrm>
          <a:prstGeom prst="roundRect">
            <a:avLst>
              <a:gd name="adj" fmla="val 50000"/>
            </a:avLst>
          </a:prstGeom>
          <a:solidFill>
            <a:srgbClr val="232A38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24712" y="2039112"/>
            <a:ext cx="2414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حسابي</a:t>
            </a:r>
            <a:endParaRPr lang="ar-SA" sz="1400" dirty="0"/>
          </a:p>
        </p:txBody>
      </p:sp>
      <p:sp>
        <p:nvSpPr>
          <p:cNvPr id="8" name="Shape 6"/>
          <p:cNvSpPr/>
          <p:nvPr/>
        </p:nvSpPr>
        <p:spPr>
          <a:xfrm>
            <a:off x="2011680" y="2404872"/>
            <a:ext cx="640080" cy="640080"/>
          </a:xfrm>
          <a:prstGeom prst="ellipse">
            <a:avLst/>
          </a:prstGeom>
          <a:solidFill>
            <a:srgbClr val="E8C98A"/>
          </a:solidFill>
          <a:ln w="12700">
            <a:solidFill>
              <a:srgbClr val="E8C98A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8840" y="2542032"/>
            <a:ext cx="365760" cy="36576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124712" y="3136392"/>
            <a:ext cx="2414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الاسم الأول *</a:t>
            </a:r>
            <a:endParaRPr lang="ar-SA" sz="900" dirty="0"/>
          </a:p>
        </p:txBody>
      </p:sp>
      <p:sp>
        <p:nvSpPr>
          <p:cNvPr id="11" name="Shape 8"/>
          <p:cNvSpPr/>
          <p:nvPr/>
        </p:nvSpPr>
        <p:spPr>
          <a:xfrm>
            <a:off x="1124712" y="3346704"/>
            <a:ext cx="2414016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216152" y="3346704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أحمد</a:t>
            </a:r>
            <a:endParaRPr lang="ar-SA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3666744"/>
            <a:ext cx="2414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اسم العائلة *</a:t>
            </a:r>
            <a:endParaRPr lang="ar-SA" sz="900" dirty="0"/>
          </a:p>
        </p:txBody>
      </p:sp>
      <p:sp>
        <p:nvSpPr>
          <p:cNvPr id="14" name="Shape 11"/>
          <p:cNvSpPr/>
          <p:nvPr/>
        </p:nvSpPr>
        <p:spPr>
          <a:xfrm>
            <a:off x="1124712" y="3877056"/>
            <a:ext cx="2414016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216152" y="3877056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خطيب</a:t>
            </a:r>
            <a:endParaRPr lang="ar-SA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124712" y="4197096"/>
            <a:ext cx="2414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البلد / المدينة *</a:t>
            </a:r>
            <a:endParaRPr lang="ar-SA" sz="900" dirty="0"/>
          </a:p>
        </p:txBody>
      </p:sp>
      <p:sp>
        <p:nvSpPr>
          <p:cNvPr id="17" name="Shape 14"/>
          <p:cNvSpPr/>
          <p:nvPr/>
        </p:nvSpPr>
        <p:spPr>
          <a:xfrm>
            <a:off x="1124712" y="4407408"/>
            <a:ext cx="2414016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216152" y="4407408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الناصرة</a:t>
            </a:r>
            <a:endParaRPr lang="ar-SA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124712" y="4727448"/>
            <a:ext cx="2414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رقم الهاتف</a:t>
            </a:r>
            <a:endParaRPr lang="ar-SA" sz="900" dirty="0"/>
          </a:p>
        </p:txBody>
      </p:sp>
      <p:sp>
        <p:nvSpPr>
          <p:cNvPr id="20" name="Shape 17"/>
          <p:cNvSpPr/>
          <p:nvPr/>
        </p:nvSpPr>
        <p:spPr>
          <a:xfrm>
            <a:off x="1124712" y="4937760"/>
            <a:ext cx="2414016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216152" y="4937760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050-1234567</a:t>
            </a:r>
            <a:endParaRPr lang="ar-SA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124712" y="5257800"/>
            <a:ext cx="2414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900" b="1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اللغة المفضلة</a:t>
            </a:r>
            <a:endParaRPr lang="ar-SA" sz="900" dirty="0"/>
          </a:p>
        </p:txBody>
      </p:sp>
      <p:sp>
        <p:nvSpPr>
          <p:cNvPr id="23" name="Shape 20"/>
          <p:cNvSpPr/>
          <p:nvPr/>
        </p:nvSpPr>
        <p:spPr>
          <a:xfrm>
            <a:off x="2764536" y="5486400"/>
            <a:ext cx="728472" cy="274320"/>
          </a:xfrm>
          <a:prstGeom prst="roundRect">
            <a:avLst>
              <a:gd name="adj" fmla="val 50000"/>
            </a:avLst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764536" y="5486400"/>
            <a:ext cx="728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العربية</a:t>
            </a:r>
            <a:endParaRPr lang="ar-SA" sz="900" dirty="0"/>
          </a:p>
        </p:txBody>
      </p:sp>
      <p:sp>
        <p:nvSpPr>
          <p:cNvPr id="25" name="Shape 22"/>
          <p:cNvSpPr/>
          <p:nvPr/>
        </p:nvSpPr>
        <p:spPr>
          <a:xfrm>
            <a:off x="1990344" y="5486400"/>
            <a:ext cx="728472" cy="274320"/>
          </a:xfrm>
          <a:prstGeom prst="roundRect">
            <a:avLst>
              <a:gd name="adj" fmla="val 50000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990344" y="5486400"/>
            <a:ext cx="728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עברית</a:t>
            </a:r>
            <a:endParaRPr lang="ar-SA" sz="900" dirty="0"/>
          </a:p>
        </p:txBody>
      </p:sp>
      <p:sp>
        <p:nvSpPr>
          <p:cNvPr id="27" name="Shape 24"/>
          <p:cNvSpPr/>
          <p:nvPr/>
        </p:nvSpPr>
        <p:spPr>
          <a:xfrm>
            <a:off x="1170432" y="5486400"/>
            <a:ext cx="728472" cy="274320"/>
          </a:xfrm>
          <a:prstGeom prst="roundRect">
            <a:avLst>
              <a:gd name="adj" fmla="val 50000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170432" y="5486400"/>
            <a:ext cx="728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English</a:t>
            </a:r>
            <a:endParaRPr lang="ar-SA" sz="900" dirty="0"/>
          </a:p>
        </p:txBody>
      </p:sp>
      <p:sp>
        <p:nvSpPr>
          <p:cNvPr id="29" name="Shape 26"/>
          <p:cNvSpPr/>
          <p:nvPr/>
        </p:nvSpPr>
        <p:spPr>
          <a:xfrm>
            <a:off x="1124712" y="5879592"/>
            <a:ext cx="2414016" cy="384048"/>
          </a:xfrm>
          <a:prstGeom prst="roundRect">
            <a:avLst>
              <a:gd name="adj" fmla="val 50000"/>
            </a:avLst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124712" y="5879592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حفظ التغييرات</a:t>
            </a:r>
            <a:endParaRPr lang="ar-SA" sz="1100" dirty="0"/>
          </a:p>
        </p:txBody>
      </p:sp>
      <p:sp>
        <p:nvSpPr>
          <p:cNvPr id="31" name="Shape 28"/>
          <p:cNvSpPr/>
          <p:nvPr/>
        </p:nvSpPr>
        <p:spPr>
          <a:xfrm>
            <a:off x="4480560" y="1645920"/>
            <a:ext cx="7159752" cy="1024128"/>
          </a:xfrm>
          <a:prstGeom prst="roundRect">
            <a:avLst>
              <a:gd name="adj" fmla="val 13393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10835640" y="1819656"/>
            <a:ext cx="676656" cy="676656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pic>
        <p:nvPicPr>
          <p:cNvPr id="3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1571" y="1995587"/>
            <a:ext cx="324795" cy="324795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4754880" y="1773936"/>
            <a:ext cx="5897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الاسم الأول، اسم العائلة والمدينة</a:t>
            </a:r>
            <a:endParaRPr lang="ar-SA" sz="1800" dirty="0"/>
          </a:p>
        </p:txBody>
      </p:sp>
      <p:sp>
        <p:nvSpPr>
          <p:cNvPr id="35" name="Text 31"/>
          <p:cNvSpPr txBox="1"/>
          <p:nvPr/>
        </p:nvSpPr>
        <p:spPr>
          <a:xfrm>
            <a:off x="4754880" y="2176272"/>
            <a:ext cx="5897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حقول إلزامية – بعد تعبئتها يمكن استخدام التطبيق</a:t>
            </a:r>
            <a:endParaRPr lang="ar-SA" sz="1400" dirty="0"/>
          </a:p>
        </p:txBody>
      </p:sp>
      <p:sp>
        <p:nvSpPr>
          <p:cNvPr id="36" name="Shape 32"/>
          <p:cNvSpPr/>
          <p:nvPr/>
        </p:nvSpPr>
        <p:spPr>
          <a:xfrm>
            <a:off x="4480560" y="2834640"/>
            <a:ext cx="7159752" cy="1024128"/>
          </a:xfrm>
          <a:prstGeom prst="roundRect">
            <a:avLst>
              <a:gd name="adj" fmla="val 13393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10835640" y="3008376"/>
            <a:ext cx="676656" cy="676656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pic>
        <p:nvPicPr>
          <p:cNvPr id="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1571" y="3184307"/>
            <a:ext cx="324795" cy="324795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4754880" y="2962656"/>
            <a:ext cx="5897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رقم الهاتف محفوظ تلقائياً</a:t>
            </a:r>
            <a:endParaRPr lang="ar-SA" sz="1800" dirty="0"/>
          </a:p>
        </p:txBody>
      </p:sp>
      <p:sp>
        <p:nvSpPr>
          <p:cNvPr id="40" name="Text 35"/>
          <p:cNvSpPr txBox="1"/>
          <p:nvPr/>
        </p:nvSpPr>
        <p:spPr>
          <a:xfrm>
            <a:off x="4754880" y="3364992"/>
            <a:ext cx="5897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دخل برقم هاتفه لا يحتاج لكتابته مرة أخرى</a:t>
            </a:r>
            <a:endParaRPr lang="ar-SA" sz="1400" dirty="0"/>
          </a:p>
        </p:txBody>
      </p:sp>
      <p:sp>
        <p:nvSpPr>
          <p:cNvPr id="41" name="Shape 36"/>
          <p:cNvSpPr/>
          <p:nvPr/>
        </p:nvSpPr>
        <p:spPr>
          <a:xfrm>
            <a:off x="4480560" y="4023360"/>
            <a:ext cx="7159752" cy="1024128"/>
          </a:xfrm>
          <a:prstGeom prst="roundRect">
            <a:avLst>
              <a:gd name="adj" fmla="val 13393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2" name="Shape 37"/>
          <p:cNvSpPr/>
          <p:nvPr/>
        </p:nvSpPr>
        <p:spPr>
          <a:xfrm>
            <a:off x="10835640" y="4197096"/>
            <a:ext cx="676656" cy="676656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pic>
        <p:nvPicPr>
          <p:cNvPr id="4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1571" y="4373027"/>
            <a:ext cx="324795" cy="324795"/>
          </a:xfrm>
          <a:prstGeom prst="rect">
            <a:avLst/>
          </a:prstGeom>
        </p:spPr>
      </p:pic>
      <p:sp>
        <p:nvSpPr>
          <p:cNvPr id="44" name="Text 38"/>
          <p:cNvSpPr txBox="1"/>
          <p:nvPr/>
        </p:nvSpPr>
        <p:spPr>
          <a:xfrm>
            <a:off x="4754880" y="4151376"/>
            <a:ext cx="5897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اللغة المفضلة</a:t>
            </a:r>
            <a:endParaRPr lang="ar-SA" sz="1800" dirty="0"/>
          </a:p>
        </p:txBody>
      </p:sp>
      <p:sp>
        <p:nvSpPr>
          <p:cNvPr id="45" name="Text 39"/>
          <p:cNvSpPr txBox="1"/>
          <p:nvPr/>
        </p:nvSpPr>
        <p:spPr>
          <a:xfrm>
            <a:off x="4754880" y="4553712"/>
            <a:ext cx="5897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العربية، العبرية أو الإنجليزية – التطبيق كله يتحول للغة المختارة</a:t>
            </a:r>
            <a:endParaRPr lang="ar-SA" sz="1400" dirty="0"/>
          </a:p>
        </p:txBody>
      </p:sp>
      <p:sp>
        <p:nvSpPr>
          <p:cNvPr id="46" name="Shape 40"/>
          <p:cNvSpPr/>
          <p:nvPr/>
        </p:nvSpPr>
        <p:spPr>
          <a:xfrm>
            <a:off x="4480560" y="5212080"/>
            <a:ext cx="7159752" cy="1024128"/>
          </a:xfrm>
          <a:prstGeom prst="roundRect">
            <a:avLst>
              <a:gd name="adj" fmla="val 13393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7" name="Shape 41"/>
          <p:cNvSpPr/>
          <p:nvPr/>
        </p:nvSpPr>
        <p:spPr>
          <a:xfrm>
            <a:off x="10835640" y="5385816"/>
            <a:ext cx="676656" cy="676656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11571" y="5561747"/>
            <a:ext cx="324795" cy="324795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4754880" y="5340096"/>
            <a:ext cx="5897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صورة شخصية ولقب</a:t>
            </a:r>
            <a:endParaRPr lang="ar-SA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4754880" y="5742432"/>
            <a:ext cx="5897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اختياري – مثلاً: الحاج، الدكتور، الأستاذ</a:t>
            </a:r>
            <a:endParaRPr lang="ar-SA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1: صاحب المناسبة يطلب فتح مناسبة</a:t>
            </a:r>
            <a:endParaRPr lang="ar-SA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داخل التطبيق: صفحة «دعواتي» ← زر «طلب فتح مناسبة»</a:t>
            </a:r>
            <a:endParaRPr lang="ar-SA" sz="1700" dirty="0"/>
          </a:p>
        </p:txBody>
      </p:sp>
      <p:sp>
        <p:nvSpPr>
          <p:cNvPr id="4" name="Shape 2"/>
          <p:cNvSpPr/>
          <p:nvPr/>
        </p:nvSpPr>
        <p:spPr>
          <a:xfrm>
            <a:off x="4937760" y="1828800"/>
            <a:ext cx="6702552" cy="1234440"/>
          </a:xfrm>
          <a:prstGeom prst="roundRect">
            <a:avLst>
              <a:gd name="adj" fmla="val 11111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607040" y="2029968"/>
            <a:ext cx="822960" cy="82296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1010" y="2243938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257800" y="20116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يحمّل التطبيق ويدخل برقم هاتفه</a:t>
            </a:r>
            <a:endParaRPr lang="ar-SA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257800" y="248716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رمز SMS يصل إلى الهاتف – بدون كلمة مرور</a:t>
            </a:r>
            <a:endParaRPr lang="ar-SA" sz="1500" dirty="0"/>
          </a:p>
        </p:txBody>
      </p:sp>
      <p:sp>
        <p:nvSpPr>
          <p:cNvPr id="9" name="Shape 6"/>
          <p:cNvSpPr/>
          <p:nvPr/>
        </p:nvSpPr>
        <p:spPr>
          <a:xfrm>
            <a:off x="4937760" y="3291840"/>
            <a:ext cx="6702552" cy="1234440"/>
          </a:xfrm>
          <a:prstGeom prst="roundRect">
            <a:avLst>
              <a:gd name="adj" fmla="val 11111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0607040" y="3493008"/>
            <a:ext cx="822960" cy="82296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1010" y="3706978"/>
            <a:ext cx="395021" cy="39502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57800" y="34747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يكمل الملف الشخصي</a:t>
            </a:r>
            <a:endParaRPr lang="ar-SA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5257800" y="395020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الاسم والمدينة – ويدخل بنفس رقم الهاتف الذي أعطاه للقاعة</a:t>
            </a:r>
            <a:endParaRPr lang="ar-SA" sz="1500" dirty="0"/>
          </a:p>
        </p:txBody>
      </p:sp>
      <p:sp>
        <p:nvSpPr>
          <p:cNvPr id="14" name="Shape 10"/>
          <p:cNvSpPr/>
          <p:nvPr/>
        </p:nvSpPr>
        <p:spPr>
          <a:xfrm>
            <a:off x="4937760" y="4754880"/>
            <a:ext cx="6702552" cy="1234440"/>
          </a:xfrm>
          <a:prstGeom prst="roundRect">
            <a:avLst>
              <a:gd name="adj" fmla="val 11111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10607040" y="4956048"/>
            <a:ext cx="822960" cy="82296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1010" y="5170018"/>
            <a:ext cx="395021" cy="395021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257800" y="493776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يضغط «طلب فتح مناسبة»</a:t>
            </a:r>
            <a:endParaRPr lang="ar-SA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5257800" y="541324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يكتب اسم المناسبة والتفاصيل ورقم هاتف للتواصل، ونحن نتواصل معه</a:t>
            </a:r>
            <a:endParaRPr lang="ar-SA" sz="1500" dirty="0"/>
          </a:p>
        </p:txBody>
      </p:sp>
      <p:sp>
        <p:nvSpPr>
          <p:cNvPr id="19" name="Shape 14"/>
          <p:cNvSpPr/>
          <p:nvPr/>
        </p:nvSpPr>
        <p:spPr>
          <a:xfrm>
            <a:off x="548640" y="1828800"/>
            <a:ext cx="4114800" cy="4160520"/>
          </a:xfrm>
          <a:prstGeom prst="roundRect">
            <a:avLst>
              <a:gd name="adj" fmla="val 3333"/>
            </a:avLst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22960" y="205740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900" b="1" dirty="0">
                <a:solidFill>
                  <a:srgbClr val="E8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ماذا يجهّز صاحب المناسبة؟</a:t>
            </a:r>
            <a:endParaRPr lang="ar-SA" sz="19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2788920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2960" y="274320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تفاصيل المناسبة: الاسم، النوع، التاريخ والساعة</a:t>
            </a:r>
            <a:endParaRPr lang="ar-SA" sz="15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0" y="3566160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822960" y="352044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اسم القاعة والعنوان</a:t>
            </a:r>
            <a:endParaRPr lang="ar-SA" sz="150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0" y="4343400"/>
            <a:ext cx="274320" cy="27432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822960" y="429768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صورة الدعوة المصممة</a:t>
            </a:r>
            <a:endParaRPr lang="ar-SA" sz="1500" dirty="0"/>
          </a:p>
        </p:txBody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0" y="5120640"/>
            <a:ext cx="274320" cy="27432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822960" y="50749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قائمة المدعوين: الاسم + رقم الهاتف لكل مدعو</a:t>
            </a:r>
            <a:endParaRPr lang="ar-SA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2: تجهيز المناسبة في النظام</a:t>
            </a:r>
            <a:endParaRPr lang="ar-SA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تُدخل التفاصيل والصورة والمدعوين – وتصبح المناسبة جاهزة للإرسال</a:t>
            </a:r>
            <a:endParaRPr lang="ar-SA" sz="1700" dirty="0"/>
          </a:p>
        </p:txBody>
      </p:sp>
      <p:sp>
        <p:nvSpPr>
          <p:cNvPr id="4" name="Shape 2"/>
          <p:cNvSpPr/>
          <p:nvPr/>
        </p:nvSpPr>
        <p:spPr>
          <a:xfrm>
            <a:off x="8119872" y="1828800"/>
            <a:ext cx="3520440" cy="4343400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497312" y="2103120"/>
            <a:ext cx="822960" cy="822960"/>
          </a:xfrm>
          <a:prstGeom prst="ellipse">
            <a:avLst/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1282" y="231709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94192" y="30632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تفاصيل المناسبة</a:t>
            </a:r>
            <a:endParaRPr lang="ar-SA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3703320"/>
            <a:ext cx="2971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ar-SA" altLang="en-US" sz="15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اسم المناسبة ونوعها</a:t>
            </a:r>
            <a:endParaRPr lang="ar-SA" sz="15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ar-SA" altLang="en-US" sz="15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التاريخ والساعة</a:t>
            </a:r>
            <a:endParaRPr lang="ar-SA" sz="15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ar-SA" altLang="en-US" sz="15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القاعة والعنوان ورابط الخريطة</a:t>
            </a:r>
            <a:endParaRPr lang="ar-SA" sz="15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ar-SA" altLang="en-US" sz="15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أسماء العريس والعروس / المضيف</a:t>
            </a:r>
            <a:endParaRPr lang="ar-SA" sz="1500" dirty="0"/>
          </a:p>
        </p:txBody>
      </p:sp>
      <p:sp>
        <p:nvSpPr>
          <p:cNvPr id="9" name="Shape 6"/>
          <p:cNvSpPr/>
          <p:nvPr/>
        </p:nvSpPr>
        <p:spPr>
          <a:xfrm>
            <a:off x="4334256" y="1828800"/>
            <a:ext cx="3520440" cy="4343400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711696" y="2103120"/>
            <a:ext cx="822960" cy="822960"/>
          </a:xfrm>
          <a:prstGeom prst="ellipse">
            <a:avLst/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5666" y="2317090"/>
            <a:ext cx="395021" cy="39502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08576" y="30632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صورة الدعوة المصممة</a:t>
            </a:r>
            <a:endParaRPr lang="ar-SA" sz="2100" dirty="0"/>
          </a:p>
        </p:txBody>
      </p:sp>
      <p:sp>
        <p:nvSpPr>
          <p:cNvPr id="13" name="Text 9"/>
          <p:cNvSpPr txBox="1"/>
          <p:nvPr/>
        </p:nvSpPr>
        <p:spPr>
          <a:xfrm>
            <a:off x="4608576" y="3703320"/>
            <a:ext cx="2971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ar-SA" altLang="en-US" sz="15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رفع صورة بطاقة الدعوة</a:t>
            </a:r>
            <a:endParaRPr lang="ar-SA" sz="15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ar-SA" altLang="en-US" sz="15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نص الدعوة الذي يظهر في الرسالة</a:t>
            </a:r>
            <a:endParaRPr lang="ar-SA" sz="15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ar-SA" altLang="en-US" sz="15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هكذا يراها كل مدعو عند فتح الرابط</a:t>
            </a:r>
            <a:endParaRPr lang="ar-SA" sz="1500" dirty="0"/>
          </a:p>
        </p:txBody>
      </p:sp>
      <p:sp>
        <p:nvSpPr>
          <p:cNvPr id="14" name="Shape 10"/>
          <p:cNvSpPr/>
          <p:nvPr/>
        </p:nvSpPr>
        <p:spPr>
          <a:xfrm>
            <a:off x="548640" y="1828800"/>
            <a:ext cx="3520440" cy="4343400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2926080" y="2103120"/>
            <a:ext cx="822960" cy="822960"/>
          </a:xfrm>
          <a:prstGeom prst="ellipse">
            <a:avLst/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0050" y="2317090"/>
            <a:ext cx="395021" cy="395021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22960" y="306324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قائمة المدعوين</a:t>
            </a:r>
            <a:endParaRPr lang="ar-SA" sz="2100" dirty="0"/>
          </a:p>
        </p:txBody>
      </p:sp>
      <p:sp>
        <p:nvSpPr>
          <p:cNvPr id="18" name="Text 13"/>
          <p:cNvSpPr txBox="1"/>
          <p:nvPr/>
        </p:nvSpPr>
        <p:spPr>
          <a:xfrm>
            <a:off x="822960" y="3703320"/>
            <a:ext cx="2971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ar-SA" altLang="en-US" sz="15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الاسم ورقم الهاتف</a:t>
            </a:r>
            <a:endParaRPr lang="ar-SA" sz="15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ar-SA" altLang="en-US" sz="15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عدد الضيوف المتوقع</a:t>
            </a:r>
            <a:endParaRPr lang="ar-SA" sz="15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ar-SA" altLang="en-US" sz="15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مجموعة: أهل العريس، أهل العروس، أصدقاء…</a:t>
            </a:r>
            <a:endParaRPr lang="ar-SA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3: النظام يرسل الدعوات</a:t>
            </a:r>
            <a:endParaRPr lang="ar-SA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1234440"/>
            <a:ext cx="2834640" cy="5349240"/>
          </a:xfrm>
          <a:prstGeom prst="roundRect">
            <a:avLst>
              <a:gd name="adj" fmla="val 11290"/>
            </a:avLst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41832" y="1581912"/>
            <a:ext cx="2596896" cy="4782312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28800" y="1362456"/>
            <a:ext cx="822960" cy="91440"/>
          </a:xfrm>
          <a:prstGeom prst="roundRect">
            <a:avLst>
              <a:gd name="adj" fmla="val 50000"/>
            </a:avLst>
          </a:prstGeom>
          <a:solidFill>
            <a:srgbClr val="232A38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41832" y="1673352"/>
            <a:ext cx="2596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رسائل</a:t>
            </a:r>
            <a:endParaRPr lang="ar-SA" sz="1200" dirty="0"/>
          </a:p>
        </p:txBody>
      </p:sp>
      <p:sp>
        <p:nvSpPr>
          <p:cNvPr id="7" name="Shape 5"/>
          <p:cNvSpPr/>
          <p:nvPr/>
        </p:nvSpPr>
        <p:spPr>
          <a:xfrm>
            <a:off x="1078992" y="2130552"/>
            <a:ext cx="2185416" cy="2103120"/>
          </a:xfrm>
          <a:prstGeom prst="roundRect">
            <a:avLst>
              <a:gd name="adj" fmla="val 6522"/>
            </a:avLst>
          </a:prstGeom>
          <a:solidFill>
            <a:srgbClr val="ECEEF2"/>
          </a:solidFill>
          <a:ln w="12700">
            <a:solidFill>
              <a:srgbClr val="ECEE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97864" y="2240280"/>
            <a:ext cx="195681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600"/>
              </a:spcAft>
              <a:buNone/>
            </a:pPr>
            <a:r>
              <a:rPr lang="ar-SA" altLang="en-US" sz="12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عائلة أحمد تتشرف بدعوتكم لحفل زفاف ابنها</a:t>
            </a:r>
            <a:endParaRPr lang="ar-SA" sz="1200" dirty="0"/>
          </a:p>
          <a:p>
            <a:pPr algn="r" indent="0" marL="0">
              <a:spcAft>
                <a:spcPts val="600"/>
              </a:spcAft>
              <a:buNone/>
            </a:pPr>
            <a:r>
              <a:rPr lang="ar-SA" altLang="en-US" sz="12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لفتح الدعوة وتأكيد الحضور:</a:t>
            </a:r>
            <a:endParaRPr lang="ar-SA" sz="1200" dirty="0"/>
          </a:p>
          <a:p>
            <a:pPr algn="r" indent="0" marL="0">
              <a:spcAft>
                <a:spcPts val="600"/>
              </a:spcAft>
              <a:buNone/>
            </a:pPr>
            <a:r>
              <a:rPr lang="ar-SA" altLang="en-US" sz="1200" b="1" dirty="0">
                <a:solidFill>
                  <a:srgbClr val="1A6F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daawatey.com/i/…</a:t>
            </a:r>
            <a:endParaRPr lang="ar-SA" sz="1200" dirty="0"/>
          </a:p>
        </p:txBody>
      </p:sp>
      <p:sp>
        <p:nvSpPr>
          <p:cNvPr id="9" name="Shape 7"/>
          <p:cNvSpPr/>
          <p:nvPr/>
        </p:nvSpPr>
        <p:spPr>
          <a:xfrm>
            <a:off x="1033272" y="4553712"/>
            <a:ext cx="2414016" cy="914400"/>
          </a:xfrm>
          <a:prstGeom prst="roundRect">
            <a:avLst>
              <a:gd name="adj" fmla="val 12000"/>
            </a:avLst>
          </a:prstGeom>
          <a:solidFill>
            <a:srgbClr val="F8F3EA"/>
          </a:solidFill>
          <a:ln w="12700">
            <a:solidFill>
              <a:srgbClr val="E3DCC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99816" y="4672584"/>
            <a:ext cx="256032" cy="25603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24712" y="4626864"/>
            <a:ext cx="1911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ar-SA" altLang="en-US" sz="1100" b="1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دعوتي</a:t>
            </a:r>
            <a:endParaRPr lang="ar-SA" sz="1100" dirty="0"/>
          </a:p>
          <a:p>
            <a:pPr algn="r" indent="0" marL="0">
              <a:buNone/>
            </a:pPr>
            <a:r>
              <a:rPr lang="ar-SA" altLang="en-US" sz="11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لديك دعوة جديدة إلى مناسبة</a:t>
            </a:r>
            <a:endParaRPr lang="ar-SA" sz="1100" dirty="0"/>
          </a:p>
        </p:txBody>
      </p:sp>
      <p:sp>
        <p:nvSpPr>
          <p:cNvPr id="12" name="Shape 9"/>
          <p:cNvSpPr/>
          <p:nvPr/>
        </p:nvSpPr>
        <p:spPr>
          <a:xfrm>
            <a:off x="4297680" y="1417320"/>
            <a:ext cx="7342632" cy="1463040"/>
          </a:xfrm>
          <a:prstGeom prst="roundRect">
            <a:avLst>
              <a:gd name="adj" fmla="val 9375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0652760" y="1691640"/>
            <a:ext cx="868680" cy="86868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78617" y="1917497"/>
            <a:ext cx="416966" cy="41696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617720" y="164592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رسالة SMS لكل مدعو</a:t>
            </a:r>
            <a:endParaRPr lang="ar-SA" sz="21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2130552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تصل لكل رقم في القائمة رسالة مع رابط شخصي للدعوة – لا حاجة لتطبيق لفتحها</a:t>
            </a:r>
            <a:endParaRPr lang="ar-SA" sz="1500" dirty="0"/>
          </a:p>
        </p:txBody>
      </p:sp>
      <p:sp>
        <p:nvSpPr>
          <p:cNvPr id="17" name="Shape 13"/>
          <p:cNvSpPr/>
          <p:nvPr/>
        </p:nvSpPr>
        <p:spPr>
          <a:xfrm>
            <a:off x="4297680" y="3108960"/>
            <a:ext cx="7342632" cy="1463040"/>
          </a:xfrm>
          <a:prstGeom prst="roundRect">
            <a:avLst>
              <a:gd name="adj" fmla="val 9375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10652760" y="3383280"/>
            <a:ext cx="868680" cy="86868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8617" y="3609137"/>
            <a:ext cx="416966" cy="41696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617720" y="33375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إشعار في التطبيق</a:t>
            </a:r>
            <a:endParaRPr lang="ar-SA" sz="2100" dirty="0"/>
          </a:p>
        </p:txBody>
      </p:sp>
      <p:sp>
        <p:nvSpPr>
          <p:cNvPr id="21" name="Text 16"/>
          <p:cNvSpPr txBox="1"/>
          <p:nvPr/>
        </p:nvSpPr>
        <p:spPr>
          <a:xfrm>
            <a:off x="4617720" y="3822192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لديه تطبيق دعوتي يتلقى أيضاً إشعاراً فورياً بأنه مدعو لمناسبة جديدة</a:t>
            </a:r>
            <a:endParaRPr lang="ar-SA" sz="1500" dirty="0"/>
          </a:p>
        </p:txBody>
      </p:sp>
      <p:sp>
        <p:nvSpPr>
          <p:cNvPr id="22" name="Shape 17"/>
          <p:cNvSpPr/>
          <p:nvPr/>
        </p:nvSpPr>
        <p:spPr>
          <a:xfrm>
            <a:off x="4297680" y="4800600"/>
            <a:ext cx="7342632" cy="1463040"/>
          </a:xfrm>
          <a:prstGeom prst="roundRect">
            <a:avLst>
              <a:gd name="adj" fmla="val 9375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10652760" y="5074920"/>
            <a:ext cx="868680" cy="86868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8617" y="5300777"/>
            <a:ext cx="416966" cy="41696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4617720" y="502920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رابط شخصي لكل واحد</a:t>
            </a:r>
            <a:endParaRPr lang="ar-SA" sz="2100" dirty="0"/>
          </a:p>
        </p:txBody>
      </p:sp>
      <p:sp>
        <p:nvSpPr>
          <p:cNvPr id="26" name="Text 20"/>
          <p:cNvSpPr txBox="1"/>
          <p:nvPr/>
        </p:nvSpPr>
        <p:spPr>
          <a:xfrm>
            <a:off x="4617720" y="5513832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لذلك نعرف بالضبط من فتح الدعوة ومن ردّ – ويمكن أيضاً المشاركة عبر واتساب</a:t>
            </a:r>
            <a:endParaRPr lang="ar-SA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4: المدعو يفتح الدعوة ويرد</a:t>
            </a:r>
            <a:endParaRPr lang="ar-SA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1234440"/>
            <a:ext cx="2834640" cy="5349240"/>
          </a:xfrm>
          <a:prstGeom prst="roundRect">
            <a:avLst>
              <a:gd name="adj" fmla="val 11290"/>
            </a:avLst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41832" y="1581912"/>
            <a:ext cx="2596896" cy="4782312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28800" y="1362456"/>
            <a:ext cx="822960" cy="91440"/>
          </a:xfrm>
          <a:prstGeom prst="roundRect">
            <a:avLst>
              <a:gd name="adj" fmla="val 50000"/>
            </a:avLst>
          </a:prstGeom>
          <a:solidFill>
            <a:srgbClr val="232A38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691640"/>
            <a:ext cx="2377440" cy="1554480"/>
          </a:xfrm>
          <a:prstGeom prst="roundRect">
            <a:avLst>
              <a:gd name="adj" fmla="val 7059"/>
            </a:avLst>
          </a:prstGeom>
          <a:solidFill>
            <a:srgbClr val="0B2228"/>
          </a:solidFill>
          <a:ln w="12700">
            <a:solidFill>
              <a:srgbClr val="0B2228"/>
            </a:solidFill>
            <a:prstDash val="solid"/>
          </a:ln>
        </p:spPr>
      </p:sp>
      <p:pic>
        <p:nvPicPr>
          <p:cNvPr id="7" name="Image 0" descr="wedding-invit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0667" y="1691640"/>
            <a:ext cx="1119226" cy="15544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24712" y="3364992"/>
            <a:ext cx="22311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ar-SA" altLang="en-US" sz="13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حفل زفاف أحمد وسارة</a:t>
            </a:r>
            <a:endParaRPr lang="ar-SA" sz="1100" dirty="0"/>
          </a:p>
          <a:p>
            <a:pPr algn="r" indent="0" marL="0">
              <a:buNone/>
            </a:pPr>
            <a:r>
              <a:rPr lang="ar-SA" altLang="en-US" sz="11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الجمعة · 20:00</a:t>
            </a:r>
            <a:endParaRPr lang="ar-SA" sz="1100" dirty="0"/>
          </a:p>
          <a:p>
            <a:pPr algn="r" indent="0" marL="0">
              <a:buNone/>
            </a:pPr>
            <a:r>
              <a:rPr lang="ar-SA" altLang="en-US" sz="11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قاعة [اسم القاعة]</a:t>
            </a:r>
            <a:endParaRPr lang="ar-SA" sz="1100" dirty="0"/>
          </a:p>
        </p:txBody>
      </p:sp>
      <p:sp>
        <p:nvSpPr>
          <p:cNvPr id="9" name="Shape 6"/>
          <p:cNvSpPr/>
          <p:nvPr/>
        </p:nvSpPr>
        <p:spPr>
          <a:xfrm>
            <a:off x="2657856" y="4325112"/>
            <a:ext cx="697992" cy="38404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57856" y="4325112"/>
            <a:ext cx="69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حاضر</a:t>
            </a:r>
            <a:endParaRPr lang="ar-SA" sz="1100" dirty="0"/>
          </a:p>
        </p:txBody>
      </p:sp>
      <p:sp>
        <p:nvSpPr>
          <p:cNvPr id="11" name="Shape 8"/>
          <p:cNvSpPr/>
          <p:nvPr/>
        </p:nvSpPr>
        <p:spPr>
          <a:xfrm>
            <a:off x="1914144" y="4325112"/>
            <a:ext cx="697992" cy="384048"/>
          </a:xfrm>
          <a:prstGeom prst="roundRect">
            <a:avLst>
              <a:gd name="adj" fmla="val 50000"/>
            </a:avLst>
          </a:prstGeom>
          <a:solidFill>
            <a:srgbClr val="FBF0DA"/>
          </a:solidFill>
          <a:ln w="12700">
            <a:solidFill>
              <a:srgbClr val="FBF0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914144" y="4325112"/>
            <a:ext cx="69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C98A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ربما</a:t>
            </a:r>
            <a:endParaRPr lang="ar-SA" sz="1100" dirty="0"/>
          </a:p>
        </p:txBody>
      </p:sp>
      <p:sp>
        <p:nvSpPr>
          <p:cNvPr id="13" name="Shape 10"/>
          <p:cNvSpPr/>
          <p:nvPr/>
        </p:nvSpPr>
        <p:spPr>
          <a:xfrm>
            <a:off x="1124712" y="4325112"/>
            <a:ext cx="697992" cy="384048"/>
          </a:xfrm>
          <a:prstGeom prst="roundRect">
            <a:avLst>
              <a:gd name="adj" fmla="val 50000"/>
            </a:avLst>
          </a:prstGeom>
          <a:solidFill>
            <a:srgbClr val="F7E6E3"/>
          </a:solidFill>
          <a:ln w="12700">
            <a:solidFill>
              <a:srgbClr val="F7E6E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24712" y="4325112"/>
            <a:ext cx="697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B54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اعتذر</a:t>
            </a:r>
            <a:endParaRPr lang="ar-SA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" y="4873752"/>
            <a:ext cx="2231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عدد الضيوف:  2</a:t>
            </a:r>
            <a:endParaRPr lang="ar-SA" sz="1100" dirty="0"/>
          </a:p>
        </p:txBody>
      </p:sp>
      <p:sp>
        <p:nvSpPr>
          <p:cNvPr id="16" name="Shape 13"/>
          <p:cNvSpPr/>
          <p:nvPr/>
        </p:nvSpPr>
        <p:spPr>
          <a:xfrm>
            <a:off x="2267712" y="5330952"/>
            <a:ext cx="1088136" cy="347472"/>
          </a:xfrm>
          <a:prstGeom prst="roundRect">
            <a:avLst>
              <a:gd name="adj" fmla="val 50000"/>
            </a:avLst>
          </a:prstGeom>
          <a:solidFill>
            <a:srgbClr val="E4F6FD"/>
          </a:solidFill>
          <a:ln w="12700">
            <a:solidFill>
              <a:srgbClr val="E4F6F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267712" y="5330952"/>
            <a:ext cx="10881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" b="1" dirty="0">
                <a:solidFill>
                  <a:srgbClr val="1A86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Waze</a:t>
            </a:r>
            <a:endParaRPr lang="ar-SA" sz="1000" dirty="0"/>
          </a:p>
        </p:txBody>
      </p:sp>
      <p:sp>
        <p:nvSpPr>
          <p:cNvPr id="18" name="Shape 15"/>
          <p:cNvSpPr/>
          <p:nvPr/>
        </p:nvSpPr>
        <p:spPr>
          <a:xfrm>
            <a:off x="1124712" y="5330952"/>
            <a:ext cx="1088136" cy="347472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124712" y="5330952"/>
            <a:ext cx="10881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Maps</a:t>
            </a:r>
            <a:endParaRPr lang="ar-SA" sz="1000" dirty="0"/>
          </a:p>
        </p:txBody>
      </p:sp>
      <p:sp>
        <p:nvSpPr>
          <p:cNvPr id="20" name="Shape 17"/>
          <p:cNvSpPr/>
          <p:nvPr/>
        </p:nvSpPr>
        <p:spPr>
          <a:xfrm>
            <a:off x="10789920" y="1417320"/>
            <a:ext cx="822960" cy="822960"/>
          </a:xfrm>
          <a:prstGeom prst="ellipse">
            <a:avLst/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3890" y="1631290"/>
            <a:ext cx="395021" cy="395021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389120" y="1399032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يضغط على الرابط</a:t>
            </a:r>
            <a:endParaRPr lang="ar-SA" sz="2100" dirty="0"/>
          </a:p>
        </p:txBody>
      </p:sp>
      <p:sp>
        <p:nvSpPr>
          <p:cNvPr id="23" name="Text 19"/>
          <p:cNvSpPr txBox="1"/>
          <p:nvPr/>
        </p:nvSpPr>
        <p:spPr>
          <a:xfrm>
            <a:off x="4389120" y="1874520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تفتح الدعوة مباشرة في الهاتف – حتى بدون تطبيق</a:t>
            </a:r>
            <a:endParaRPr lang="ar-SA" sz="1500" dirty="0"/>
          </a:p>
        </p:txBody>
      </p:sp>
      <p:sp>
        <p:nvSpPr>
          <p:cNvPr id="24" name="Shape 20"/>
          <p:cNvSpPr/>
          <p:nvPr/>
        </p:nvSpPr>
        <p:spPr>
          <a:xfrm>
            <a:off x="10789920" y="2715768"/>
            <a:ext cx="822960" cy="822960"/>
          </a:xfrm>
          <a:prstGeom prst="ellipse">
            <a:avLst/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3890" y="2929738"/>
            <a:ext cx="395021" cy="395021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4389120" y="2697480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يرى الدعوة كاملة</a:t>
            </a:r>
            <a:endParaRPr lang="ar-SA" sz="2100" dirty="0"/>
          </a:p>
        </p:txBody>
      </p:sp>
      <p:sp>
        <p:nvSpPr>
          <p:cNvPr id="27" name="Text 22"/>
          <p:cNvSpPr txBox="1"/>
          <p:nvPr/>
        </p:nvSpPr>
        <p:spPr>
          <a:xfrm>
            <a:off x="4389120" y="3172968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صورة الدعوة المصممة، التاريخ والساعة، القاعة والعنوان</a:t>
            </a:r>
            <a:endParaRPr lang="ar-SA" sz="1500" dirty="0"/>
          </a:p>
        </p:txBody>
      </p:sp>
      <p:sp>
        <p:nvSpPr>
          <p:cNvPr id="28" name="Shape 23"/>
          <p:cNvSpPr/>
          <p:nvPr/>
        </p:nvSpPr>
        <p:spPr>
          <a:xfrm>
            <a:off x="10789920" y="4014216"/>
            <a:ext cx="822960" cy="82296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3890" y="4228186"/>
            <a:ext cx="395021" cy="395021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389120" y="3995928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يؤكد: حاضر / ربما / اعتذر</a:t>
            </a:r>
            <a:endParaRPr lang="ar-SA" sz="2100" dirty="0"/>
          </a:p>
        </p:txBody>
      </p:sp>
      <p:sp>
        <p:nvSpPr>
          <p:cNvPr id="31" name="Text 25"/>
          <p:cNvSpPr txBox="1"/>
          <p:nvPr/>
        </p:nvSpPr>
        <p:spPr>
          <a:xfrm>
            <a:off x="4389120" y="4471416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ويختار عدد الضيوف، ويمكنه كتابة تهنئة لأصحاب الفرح</a:t>
            </a:r>
            <a:endParaRPr lang="ar-SA" sz="1500" dirty="0"/>
          </a:p>
        </p:txBody>
      </p:sp>
      <p:sp>
        <p:nvSpPr>
          <p:cNvPr id="32" name="Shape 26"/>
          <p:cNvSpPr/>
          <p:nvPr/>
        </p:nvSpPr>
        <p:spPr>
          <a:xfrm>
            <a:off x="10789920" y="5312664"/>
            <a:ext cx="822960" cy="822960"/>
          </a:xfrm>
          <a:prstGeom prst="ellipse">
            <a:avLst/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3890" y="5526634"/>
            <a:ext cx="395021" cy="395021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4389120" y="5294376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يصل إلى القاعة بسهولة</a:t>
            </a:r>
            <a:endParaRPr lang="ar-SA" sz="2100" dirty="0"/>
          </a:p>
        </p:txBody>
      </p:sp>
      <p:sp>
        <p:nvSpPr>
          <p:cNvPr id="35" name="Text 28"/>
          <p:cNvSpPr txBox="1"/>
          <p:nvPr/>
        </p:nvSpPr>
        <p:spPr>
          <a:xfrm>
            <a:off x="4389120" y="5769864"/>
            <a:ext cx="6172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زر للملاحة مباشرة عبر Waze أو Google Maps</a:t>
            </a:r>
            <a:endParaRPr lang="ar-SA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«دعواتي»: كل دعواتك في مكان واحد</a:t>
            </a:r>
            <a:endParaRPr lang="ar-SA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مستخدم يرى قائمة المناسبات المدعو إليها</a:t>
            </a:r>
            <a:endParaRPr lang="ar-SA" sz="1700" dirty="0"/>
          </a:p>
        </p:txBody>
      </p:sp>
      <p:sp>
        <p:nvSpPr>
          <p:cNvPr id="4" name="Shape 2"/>
          <p:cNvSpPr/>
          <p:nvPr/>
        </p:nvSpPr>
        <p:spPr>
          <a:xfrm>
            <a:off x="8138160" y="1645920"/>
            <a:ext cx="3108960" cy="4937760"/>
          </a:xfrm>
          <a:prstGeom prst="roundRect">
            <a:avLst>
              <a:gd name="adj" fmla="val 10294"/>
            </a:avLst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57032" y="1993392"/>
            <a:ext cx="2871216" cy="4370832"/>
          </a:xfrm>
          <a:prstGeom prst="roundRect">
            <a:avLst>
              <a:gd name="adj" fmla="val 57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81160" y="1773936"/>
            <a:ext cx="822960" cy="91440"/>
          </a:xfrm>
          <a:prstGeom prst="roundRect">
            <a:avLst>
              <a:gd name="adj" fmla="val 50000"/>
            </a:avLst>
          </a:prstGeom>
          <a:solidFill>
            <a:srgbClr val="232A38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39912" y="2103120"/>
            <a:ext cx="2505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دعواتي</a:t>
            </a:r>
            <a:endParaRPr lang="ar-SA" sz="1600" dirty="0"/>
          </a:p>
        </p:txBody>
      </p:sp>
      <p:sp>
        <p:nvSpPr>
          <p:cNvPr id="8" name="Shape 6"/>
          <p:cNvSpPr/>
          <p:nvPr/>
        </p:nvSpPr>
        <p:spPr>
          <a:xfrm>
            <a:off x="8366760" y="2633472"/>
            <a:ext cx="2651760" cy="1024128"/>
          </a:xfrm>
          <a:prstGeom prst="roundRect">
            <a:avLst>
              <a:gd name="adj" fmla="val 8929"/>
            </a:avLst>
          </a:prstGeom>
          <a:solidFill>
            <a:srgbClr val="F8F3EA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485632" y="2724912"/>
            <a:ext cx="2414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2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حفل زفاف أحمد وسارة</a:t>
            </a:r>
            <a:endParaRPr lang="ar-SA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485632" y="3017520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0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الجمعة 16/10 · قاعة النور</a:t>
            </a:r>
            <a:endParaRPr lang="ar-SA" sz="1000" dirty="0"/>
          </a:p>
        </p:txBody>
      </p:sp>
      <p:sp>
        <p:nvSpPr>
          <p:cNvPr id="11" name="Shape 9"/>
          <p:cNvSpPr/>
          <p:nvPr/>
        </p:nvSpPr>
        <p:spPr>
          <a:xfrm>
            <a:off x="9710928" y="3310128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E6F2EB"/>
          </a:solidFill>
          <a:ln w="12700">
            <a:solidFill>
              <a:srgbClr val="E6F2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710928" y="33101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حاضر</a:t>
            </a:r>
            <a:endParaRPr lang="ar-SA" sz="900" dirty="0"/>
          </a:p>
        </p:txBody>
      </p:sp>
      <p:sp>
        <p:nvSpPr>
          <p:cNvPr id="13" name="Shape 11"/>
          <p:cNvSpPr/>
          <p:nvPr/>
        </p:nvSpPr>
        <p:spPr>
          <a:xfrm>
            <a:off x="8366760" y="3822192"/>
            <a:ext cx="2651760" cy="1024128"/>
          </a:xfrm>
          <a:prstGeom prst="roundRect">
            <a:avLst>
              <a:gd name="adj" fmla="val 8929"/>
            </a:avLst>
          </a:prstGeom>
          <a:solidFill>
            <a:srgbClr val="F8F3EA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85632" y="3913632"/>
            <a:ext cx="2414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2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خطوبة محمد وليلى</a:t>
            </a:r>
            <a:endParaRPr lang="ar-SA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485632" y="4206240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0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السبت 24/10 · قاعة الزهور</a:t>
            </a:r>
            <a:endParaRPr lang="ar-SA" sz="1000" dirty="0"/>
          </a:p>
        </p:txBody>
      </p:sp>
      <p:sp>
        <p:nvSpPr>
          <p:cNvPr id="16" name="Shape 14"/>
          <p:cNvSpPr/>
          <p:nvPr/>
        </p:nvSpPr>
        <p:spPr>
          <a:xfrm>
            <a:off x="9710928" y="4498848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FBF0DA"/>
          </a:solidFill>
          <a:ln w="12700">
            <a:solidFill>
              <a:srgbClr val="FBF0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710928" y="449884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C98A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بانتظار الرد</a:t>
            </a:r>
            <a:endParaRPr lang="ar-SA" sz="900" dirty="0"/>
          </a:p>
        </p:txBody>
      </p:sp>
      <p:sp>
        <p:nvSpPr>
          <p:cNvPr id="18" name="Shape 16"/>
          <p:cNvSpPr/>
          <p:nvPr/>
        </p:nvSpPr>
        <p:spPr>
          <a:xfrm>
            <a:off x="8366760" y="5010912"/>
            <a:ext cx="2651760" cy="1024128"/>
          </a:xfrm>
          <a:prstGeom prst="roundRect">
            <a:avLst>
              <a:gd name="adj" fmla="val 8929"/>
            </a:avLst>
          </a:prstGeom>
          <a:solidFill>
            <a:srgbClr val="F8F3EA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85632" y="5102352"/>
            <a:ext cx="24140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2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عيد ميلاد يوسف</a:t>
            </a:r>
            <a:endParaRPr lang="ar-SA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485632" y="5394960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0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الخميس 05/11 · البيت</a:t>
            </a:r>
            <a:endParaRPr lang="ar-SA" sz="1000" dirty="0"/>
          </a:p>
        </p:txBody>
      </p:sp>
      <p:sp>
        <p:nvSpPr>
          <p:cNvPr id="21" name="Shape 19"/>
          <p:cNvSpPr/>
          <p:nvPr/>
        </p:nvSpPr>
        <p:spPr>
          <a:xfrm>
            <a:off x="9710928" y="5687568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F7E6E3"/>
          </a:solidFill>
          <a:ln w="12700">
            <a:solidFill>
              <a:srgbClr val="F7E6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710928" y="56875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" b="1" dirty="0">
                <a:solidFill>
                  <a:srgbClr val="B54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اعتذر</a:t>
            </a:r>
            <a:endParaRPr lang="ar-SA" sz="900" dirty="0"/>
          </a:p>
        </p:txBody>
      </p:sp>
      <p:sp>
        <p:nvSpPr>
          <p:cNvPr id="23" name="Shape 21"/>
          <p:cNvSpPr/>
          <p:nvPr/>
        </p:nvSpPr>
        <p:spPr>
          <a:xfrm>
            <a:off x="548640" y="1737360"/>
            <a:ext cx="7132320" cy="128016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720840" y="1965960"/>
            <a:ext cx="822960" cy="82296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34810" y="2179930"/>
            <a:ext cx="395021" cy="395021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868680" y="19202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قائمة واحدة لكل المناسبات</a:t>
            </a:r>
            <a:endParaRPr lang="ar-SA" sz="2000" dirty="0"/>
          </a:p>
        </p:txBody>
      </p:sp>
      <p:sp>
        <p:nvSpPr>
          <p:cNvPr id="27" name="Text 24"/>
          <p:cNvSpPr txBox="1"/>
          <p:nvPr/>
        </p:nvSpPr>
        <p:spPr>
          <a:xfrm>
            <a:off x="868680" y="2395728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المناسبات القادمة والسابقة، مع حالة ردّك على كل واحدة</a:t>
            </a:r>
            <a:endParaRPr lang="ar-SA" sz="1500" dirty="0"/>
          </a:p>
        </p:txBody>
      </p:sp>
      <p:sp>
        <p:nvSpPr>
          <p:cNvPr id="28" name="Shape 25"/>
          <p:cNvSpPr/>
          <p:nvPr/>
        </p:nvSpPr>
        <p:spPr>
          <a:xfrm>
            <a:off x="548640" y="3246120"/>
            <a:ext cx="7132320" cy="128016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6720840" y="3474720"/>
            <a:ext cx="822960" cy="82296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4810" y="3688690"/>
            <a:ext cx="395021" cy="395021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868680" y="34290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تُربط تلقائياً برقم الهاتف</a:t>
            </a:r>
            <a:endParaRPr lang="ar-SA" sz="2000" dirty="0"/>
          </a:p>
        </p:txBody>
      </p:sp>
      <p:sp>
        <p:nvSpPr>
          <p:cNvPr id="32" name="Text 28"/>
          <p:cNvSpPr txBox="1"/>
          <p:nvPr/>
        </p:nvSpPr>
        <p:spPr>
          <a:xfrm>
            <a:off x="868680" y="3904488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دعوة أُرسلت إلى رقمك تظهر هنا فور تسجيل الدخول بنفس الرقم</a:t>
            </a:r>
            <a:endParaRPr lang="ar-SA" sz="1500" dirty="0"/>
          </a:p>
        </p:txBody>
      </p:sp>
      <p:sp>
        <p:nvSpPr>
          <p:cNvPr id="33" name="Shape 29"/>
          <p:cNvSpPr/>
          <p:nvPr/>
        </p:nvSpPr>
        <p:spPr>
          <a:xfrm>
            <a:off x="548640" y="4754880"/>
            <a:ext cx="7132320" cy="128016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Shape 30"/>
          <p:cNvSpPr/>
          <p:nvPr/>
        </p:nvSpPr>
        <p:spPr>
          <a:xfrm>
            <a:off x="6720840" y="4983480"/>
            <a:ext cx="822960" cy="82296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810" y="5197450"/>
            <a:ext cx="395021" cy="395021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868680" y="49377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تغيير الرد في أي وقت</a:t>
            </a:r>
            <a:endParaRPr lang="ar-SA" sz="2000" dirty="0"/>
          </a:p>
        </p:txBody>
      </p:sp>
      <p:sp>
        <p:nvSpPr>
          <p:cNvPr id="37" name="Text 32"/>
          <p:cNvSpPr txBox="1"/>
          <p:nvPr/>
        </p:nvSpPr>
        <p:spPr>
          <a:xfrm>
            <a:off x="868680" y="5413248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5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تغيرت الخطط؟ ادخل إلى الدعوة وحدّث ردّك</a:t>
            </a:r>
            <a:endParaRPr lang="ar-SA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الخطوة 5: إحصائيات مباشرة وتقرير Excel</a:t>
            </a:r>
            <a:endParaRPr lang="ar-SA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متاحة لصاحب المناسبة، للمدير ولمسؤول النظام (الأدمين)</a:t>
            </a:r>
            <a:endParaRPr lang="ar-SA" sz="1700" dirty="0"/>
          </a:p>
        </p:txBody>
      </p:sp>
      <p:sp>
        <p:nvSpPr>
          <p:cNvPr id="4" name="Shape 2"/>
          <p:cNvSpPr/>
          <p:nvPr/>
        </p:nvSpPr>
        <p:spPr>
          <a:xfrm>
            <a:off x="9144000" y="1783080"/>
            <a:ext cx="2496312" cy="1371600"/>
          </a:xfrm>
          <a:prstGeom prst="roundRect">
            <a:avLst>
              <a:gd name="adj" fmla="val 10000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0" y="1874520"/>
            <a:ext cx="2496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9144000" y="265176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إجمالي المدعوين</a:t>
            </a:r>
            <a:endParaRPr lang="ar-SA" sz="1500" dirty="0"/>
          </a:p>
        </p:txBody>
      </p:sp>
      <p:sp>
        <p:nvSpPr>
          <p:cNvPr id="7" name="Shape 5"/>
          <p:cNvSpPr/>
          <p:nvPr/>
        </p:nvSpPr>
        <p:spPr>
          <a:xfrm>
            <a:off x="6537960" y="1783080"/>
            <a:ext cx="2496312" cy="1371600"/>
          </a:xfrm>
          <a:prstGeom prst="roundRect">
            <a:avLst>
              <a:gd name="adj" fmla="val 10000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37960" y="1874520"/>
            <a:ext cx="2496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65176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مؤكد الحضور</a:t>
            </a:r>
            <a:endParaRPr lang="ar-SA" sz="1500" dirty="0"/>
          </a:p>
        </p:txBody>
      </p:sp>
      <p:sp>
        <p:nvSpPr>
          <p:cNvPr id="10" name="Shape 8"/>
          <p:cNvSpPr/>
          <p:nvPr/>
        </p:nvSpPr>
        <p:spPr>
          <a:xfrm>
            <a:off x="9144000" y="3383280"/>
            <a:ext cx="2496312" cy="1371600"/>
          </a:xfrm>
          <a:prstGeom prst="roundRect">
            <a:avLst>
              <a:gd name="adj" fmla="val 10000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9144000" y="3474720"/>
            <a:ext cx="2496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54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0" y="425196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اعتذر</a:t>
            </a:r>
            <a:endParaRPr lang="ar-SA" sz="1500" dirty="0"/>
          </a:p>
        </p:txBody>
      </p:sp>
      <p:sp>
        <p:nvSpPr>
          <p:cNvPr id="13" name="Shape 11"/>
          <p:cNvSpPr/>
          <p:nvPr/>
        </p:nvSpPr>
        <p:spPr>
          <a:xfrm>
            <a:off x="6537960" y="3383280"/>
            <a:ext cx="2496312" cy="1371600"/>
          </a:xfrm>
          <a:prstGeom prst="roundRect">
            <a:avLst>
              <a:gd name="adj" fmla="val 10000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537960" y="3474720"/>
            <a:ext cx="24963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98A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425196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بانتظار الرد</a:t>
            </a:r>
            <a:endParaRPr lang="ar-SA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4983480"/>
            <a:ext cx="510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أرقام للتوضيح فقط</a:t>
            </a:r>
            <a:endParaRPr lang="ar-SA" sz="1100" dirty="0"/>
          </a:p>
        </p:txBody>
      </p:sp>
      <p:sp>
        <p:nvSpPr>
          <p:cNvPr id="17" name="Shape 15"/>
          <p:cNvSpPr/>
          <p:nvPr/>
        </p:nvSpPr>
        <p:spPr>
          <a:xfrm>
            <a:off x="6537960" y="5349240"/>
            <a:ext cx="5102352" cy="960120"/>
          </a:xfrm>
          <a:prstGeom prst="roundRect">
            <a:avLst>
              <a:gd name="adj" fmla="val 14286"/>
            </a:avLst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744200" y="5486400"/>
            <a:ext cx="685800" cy="6858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2508" y="5664708"/>
            <a:ext cx="329184" cy="32918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6812280" y="5458968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1700" b="1" dirty="0">
                <a:solidFill>
                  <a:srgbClr val="E8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تصدير إلى Excel</a:t>
            </a:r>
            <a:endParaRPr lang="ar-SA" sz="1700" dirty="0"/>
          </a:p>
          <a:p>
            <a:pPr algn="r" indent="0" marL="0">
              <a:buNone/>
            </a:pPr>
            <a:r>
              <a:rPr lang="ar-SA" alt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القائمة كاملة مع الردود وعدد الضيوف</a:t>
            </a:r>
            <a:endParaRPr lang="ar-SA" sz="17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548640" y="1691640"/>
          <a:ext cx="566928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صاحب القاعة: تقويم الحجوزات</a:t>
            </a:r>
            <a:endParaRPr lang="ar-SA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يرى في تقويم شهري متى القاعة مشغولة ومتى متاحة</a:t>
            </a:r>
            <a:endParaRPr lang="ar-SA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6400800" cy="4617720"/>
          </a:xfrm>
          <a:prstGeom prst="roundRect">
            <a:avLst>
              <a:gd name="adj" fmla="val 2970"/>
            </a:avLst>
          </a:prstGeom>
          <a:solidFill>
            <a:srgbClr val="F8F3EA"/>
          </a:solidFill>
          <a:ln w="12700">
            <a:solidFill>
              <a:srgbClr val="F8F3E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8745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أكتوبر 2026</a:t>
            </a:r>
            <a:endParaRPr lang="ar-SA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904411" y="2423160"/>
            <a:ext cx="862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أحد</a:t>
            </a:r>
            <a:endParaRPr lang="ar-SA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042263" y="2423160"/>
            <a:ext cx="862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إثنين</a:t>
            </a:r>
            <a:endParaRPr lang="ar-SA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180114" y="2423160"/>
            <a:ext cx="862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ثلاثاء</a:t>
            </a:r>
            <a:endParaRPr lang="ar-SA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317966" y="2423160"/>
            <a:ext cx="862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أربعاء</a:t>
            </a:r>
            <a:endParaRPr lang="ar-SA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455817" y="2423160"/>
            <a:ext cx="862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خميس</a:t>
            </a:r>
            <a:endParaRPr lang="ar-SA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593669" y="2423160"/>
            <a:ext cx="862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جمعة</a:t>
            </a:r>
            <a:endParaRPr lang="ar-SA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423160"/>
            <a:ext cx="8621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100" b="1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سبت</a:t>
            </a:r>
            <a:endParaRPr lang="ar-SA" sz="1100" dirty="0"/>
          </a:p>
        </p:txBody>
      </p:sp>
      <p:sp>
        <p:nvSpPr>
          <p:cNvPr id="13" name="Shape 11"/>
          <p:cNvSpPr/>
          <p:nvPr/>
        </p:nvSpPr>
        <p:spPr>
          <a:xfrm>
            <a:off x="2492393" y="2770632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92393" y="2770632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630245" y="2770632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30245" y="2770632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68096" y="2770632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8096" y="2770632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940987" y="3374136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0987" y="3374136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78839" y="3374136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78839" y="3374136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216690" y="3374136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216690" y="3374136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354542" y="3374136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354542" y="3374136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492393" y="3374136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492393" y="3374136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1630245" y="3374136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630245" y="3374136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68096" y="3374136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68096" y="3374136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940987" y="3977640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940987" y="3977640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078839" y="3977640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078839" y="3977640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216690" y="3977640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216690" y="3977640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354542" y="3977640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3354542" y="3977640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492393" y="3977640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2492393" y="3977640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1630245" y="3977640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630245" y="3977640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768096" y="3977640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68096" y="3977640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940987" y="4581144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940987" y="4581144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5078839" y="4581144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078839" y="4581144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4216690" y="4581144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216690" y="4581144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3354542" y="4581144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354542" y="4581144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2492393" y="4581144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2492393" y="4581144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1630245" y="4581144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1630245" y="4581144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768096" y="4581144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768096" y="4581144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5940987" y="5184648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5940987" y="5184648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5078839" y="5184648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5078839" y="5184648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4216690" y="5184648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216690" y="5184648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3354542" y="5184648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54542" y="5184648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2492393" y="5184648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3DCC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2492393" y="5184648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1630245" y="5184648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1630245" y="5184648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768096" y="5184648"/>
            <a:ext cx="788997" cy="530352"/>
          </a:xfrm>
          <a:prstGeom prst="roundRect">
            <a:avLst>
              <a:gd name="adj" fmla="val 13793"/>
            </a:avLst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768096" y="5184648"/>
            <a:ext cx="78899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11274552" y="192024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7315200" y="18745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مشغول – توجد مناسبة في هذا اليوم</a:t>
            </a:r>
            <a:endParaRPr lang="ar-SA" sz="1600" dirty="0"/>
          </a:p>
        </p:txBody>
      </p:sp>
      <p:sp>
        <p:nvSpPr>
          <p:cNvPr id="77" name="Shape 75"/>
          <p:cNvSpPr/>
          <p:nvPr/>
        </p:nvSpPr>
        <p:spPr>
          <a:xfrm>
            <a:off x="11274552" y="24688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5F6675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7315200" y="24231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متاح – اليوم فارغ</a:t>
            </a:r>
            <a:endParaRPr lang="ar-SA" sz="1600" dirty="0"/>
          </a:p>
        </p:txBody>
      </p:sp>
      <p:sp>
        <p:nvSpPr>
          <p:cNvPr id="79" name="Shape 77"/>
          <p:cNvSpPr/>
          <p:nvPr/>
        </p:nvSpPr>
        <p:spPr>
          <a:xfrm>
            <a:off x="10972800" y="3154680"/>
            <a:ext cx="685800" cy="685800"/>
          </a:xfrm>
          <a:prstGeom prst="ellipse">
            <a:avLst/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</p:spPr>
      </p:sp>
      <p:pic>
        <p:nvPicPr>
          <p:cNvPr id="8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1108" y="3332988"/>
            <a:ext cx="329184" cy="329184"/>
          </a:xfrm>
          <a:prstGeom prst="rect">
            <a:avLst/>
          </a:prstGeom>
        </p:spPr>
      </p:pic>
      <p:sp>
        <p:nvSpPr>
          <p:cNvPr id="81" name="Text 78"/>
          <p:cNvSpPr txBox="1"/>
          <p:nvPr/>
        </p:nvSpPr>
        <p:spPr>
          <a:xfrm>
            <a:off x="7315200" y="3136392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نظرة شهرية واضحة</a:t>
            </a:r>
            <a:endParaRPr lang="ar-SA" sz="1800" dirty="0"/>
          </a:p>
        </p:txBody>
      </p:sp>
      <p:sp>
        <p:nvSpPr>
          <p:cNvPr id="82" name="Text 79"/>
          <p:cNvSpPr txBox="1"/>
          <p:nvPr/>
        </p:nvSpPr>
        <p:spPr>
          <a:xfrm>
            <a:off x="7315200" y="352044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التنقل بين الأشهر ورؤية الأيام المحجوزة فوراً</a:t>
            </a:r>
            <a:endParaRPr lang="ar-SA" sz="1400" dirty="0"/>
          </a:p>
        </p:txBody>
      </p:sp>
      <p:sp>
        <p:nvSpPr>
          <p:cNvPr id="83" name="Shape 80"/>
          <p:cNvSpPr/>
          <p:nvPr/>
        </p:nvSpPr>
        <p:spPr>
          <a:xfrm>
            <a:off x="10972800" y="4233672"/>
            <a:ext cx="685800" cy="685800"/>
          </a:xfrm>
          <a:prstGeom prst="ellipse">
            <a:avLst/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</p:spPr>
      </p:sp>
      <p:pic>
        <p:nvPicPr>
          <p:cNvPr id="8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1108" y="4411980"/>
            <a:ext cx="329184" cy="329184"/>
          </a:xfrm>
          <a:prstGeom prst="rect">
            <a:avLst/>
          </a:prstGeom>
        </p:spPr>
      </p:pic>
      <p:sp>
        <p:nvSpPr>
          <p:cNvPr id="85" name="Text 81"/>
          <p:cNvSpPr txBox="1"/>
          <p:nvPr/>
        </p:nvSpPr>
        <p:spPr>
          <a:xfrm>
            <a:off x="7315200" y="4215384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مناسبات هذا الشهر</a:t>
            </a:r>
            <a:endParaRPr lang="ar-SA" sz="1800" dirty="0"/>
          </a:p>
        </p:txBody>
      </p:sp>
      <p:sp>
        <p:nvSpPr>
          <p:cNvPr id="86" name="Text 82"/>
          <p:cNvSpPr txBox="1"/>
          <p:nvPr/>
        </p:nvSpPr>
        <p:spPr>
          <a:xfrm>
            <a:off x="7315200" y="4599432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قائمة بكل مناسبة: الاسم، التاريخ والساعة</a:t>
            </a:r>
            <a:endParaRPr lang="ar-SA" sz="1400" dirty="0"/>
          </a:p>
        </p:txBody>
      </p:sp>
      <p:sp>
        <p:nvSpPr>
          <p:cNvPr id="87" name="Shape 83"/>
          <p:cNvSpPr/>
          <p:nvPr/>
        </p:nvSpPr>
        <p:spPr>
          <a:xfrm>
            <a:off x="10972800" y="5312664"/>
            <a:ext cx="685800" cy="685800"/>
          </a:xfrm>
          <a:prstGeom prst="ellipse">
            <a:avLst/>
          </a:prstGeom>
          <a:solidFill>
            <a:srgbClr val="171C26"/>
          </a:solidFill>
          <a:ln w="12700">
            <a:solidFill>
              <a:srgbClr val="171C26"/>
            </a:solidFill>
            <a:prstDash val="solid"/>
          </a:ln>
        </p:spPr>
      </p:sp>
      <p:pic>
        <p:nvPicPr>
          <p:cNvPr id="8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1108" y="5490972"/>
            <a:ext cx="329184" cy="329184"/>
          </a:xfrm>
          <a:prstGeom prst="rect">
            <a:avLst/>
          </a:prstGeom>
        </p:spPr>
      </p:pic>
      <p:sp>
        <p:nvSpPr>
          <p:cNvPr id="89" name="Text 84"/>
          <p:cNvSpPr txBox="1"/>
          <p:nvPr/>
        </p:nvSpPr>
        <p:spPr>
          <a:xfrm>
            <a:off x="7315200" y="5294376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لكل قاعة تقويمها</a:t>
            </a:r>
            <a:endParaRPr lang="ar-SA" sz="1800" dirty="0"/>
          </a:p>
        </p:txBody>
      </p:sp>
      <p:sp>
        <p:nvSpPr>
          <p:cNvPr id="90" name="Text 85"/>
          <p:cNvSpPr txBox="1"/>
          <p:nvPr/>
        </p:nvSpPr>
        <p:spPr>
          <a:xfrm>
            <a:off x="7315200" y="5678424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يملك أكثر من قاعة يختار القاعة من القائمة</a:t>
            </a:r>
            <a:endParaRPr lang="ar-SA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صاحب القاعة: صفحة القاعة</a:t>
            </a:r>
            <a:endParaRPr lang="ar-SA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لكل قاعة صفحة خاصة تعرض كل تفاصيلها</a:t>
            </a:r>
            <a:endParaRPr lang="ar-SA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6035040" cy="4617720"/>
          </a:xfrm>
          <a:prstGeom prst="roundRect">
            <a:avLst>
              <a:gd name="adj" fmla="val 297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920240"/>
            <a:ext cx="5669280" cy="1600200"/>
          </a:xfrm>
          <a:prstGeom prst="roundRect">
            <a:avLst>
              <a:gd name="adj" fmla="val 6857"/>
            </a:avLst>
          </a:prstGeom>
          <a:solidFill>
            <a:srgbClr val="232A38"/>
          </a:solidFill>
          <a:ln w="12700">
            <a:solidFill>
              <a:srgbClr val="232A38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46120" y="2148840"/>
            <a:ext cx="640080" cy="6400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9260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300" dirty="0">
                <a:solidFill>
                  <a:srgbClr val="E8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صورة القاعة</a:t>
            </a:r>
            <a:endParaRPr lang="ar-SA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65760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[اسم القاعة]</a:t>
            </a:r>
            <a:endParaRPr lang="ar-SA" sz="22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4389120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566160" y="43434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المدينة والعنوان الكامل</a:t>
            </a:r>
            <a:endParaRPr lang="ar-SA" sz="13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4389120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" y="434340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حتى 500 ضيف</a:t>
            </a:r>
            <a:endParaRPr lang="ar-SA" sz="13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7880" y="4892040"/>
            <a:ext cx="256032" cy="25603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566160" y="48463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هاتف القاعة</a:t>
            </a:r>
            <a:endParaRPr lang="ar-SA" sz="13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0" y="4892040"/>
            <a:ext cx="256032" cy="256032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68680" y="48463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dirty="0">
                <a:solidFill>
                  <a:srgbClr val="1E23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ملاحظات إضافية</a:t>
            </a:r>
            <a:endParaRPr lang="ar-SA" sz="1300" dirty="0"/>
          </a:p>
        </p:txBody>
      </p:sp>
      <p:sp>
        <p:nvSpPr>
          <p:cNvPr id="17" name="Shape 10"/>
          <p:cNvSpPr/>
          <p:nvPr/>
        </p:nvSpPr>
        <p:spPr>
          <a:xfrm>
            <a:off x="3657600" y="5532120"/>
            <a:ext cx="2606040" cy="438912"/>
          </a:xfrm>
          <a:prstGeom prst="roundRect">
            <a:avLst>
              <a:gd name="adj" fmla="val 50000"/>
            </a:avLst>
          </a:prstGeom>
          <a:solidFill>
            <a:srgbClr val="E4F6FD"/>
          </a:solidFill>
          <a:ln w="12700">
            <a:solidFill>
              <a:srgbClr val="E4F6FD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3657600" y="55321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A86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Waze</a:t>
            </a:r>
            <a:endParaRPr lang="ar-SA" sz="1300" dirty="0"/>
          </a:p>
        </p:txBody>
      </p:sp>
      <p:sp>
        <p:nvSpPr>
          <p:cNvPr id="19" name="Shape 12"/>
          <p:cNvSpPr/>
          <p:nvPr/>
        </p:nvSpPr>
        <p:spPr>
          <a:xfrm>
            <a:off x="868680" y="5532120"/>
            <a:ext cx="2606040" cy="438912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868680" y="55321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Maps</a:t>
            </a:r>
            <a:endParaRPr lang="ar-SA" sz="1300" dirty="0"/>
          </a:p>
        </p:txBody>
      </p:sp>
      <p:sp>
        <p:nvSpPr>
          <p:cNvPr id="21" name="Shape 14"/>
          <p:cNvSpPr/>
          <p:nvPr/>
        </p:nvSpPr>
        <p:spPr>
          <a:xfrm>
            <a:off x="6903720" y="1737360"/>
            <a:ext cx="4736592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 15"/>
          <p:cNvSpPr/>
          <p:nvPr/>
        </p:nvSpPr>
        <p:spPr>
          <a:xfrm>
            <a:off x="10789920" y="1993392"/>
            <a:ext cx="685800" cy="68580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68228" y="2171700"/>
            <a:ext cx="329184" cy="329184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7178040" y="19202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التفاصيل في مكان واحد</a:t>
            </a:r>
            <a:endParaRPr lang="ar-SA" sz="1800" dirty="0"/>
          </a:p>
        </p:txBody>
      </p:sp>
      <p:sp>
        <p:nvSpPr>
          <p:cNvPr id="25" name="Text 17"/>
          <p:cNvSpPr txBox="1"/>
          <p:nvPr/>
        </p:nvSpPr>
        <p:spPr>
          <a:xfrm>
            <a:off x="7178040" y="2359152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الاسم، الصورة، المدينة والعنوان، السعة القصوى، الهاتف والملاحظات</a:t>
            </a:r>
            <a:endParaRPr lang="ar-SA" sz="1400" dirty="0"/>
          </a:p>
        </p:txBody>
      </p:sp>
      <p:sp>
        <p:nvSpPr>
          <p:cNvPr id="26" name="Shape 18"/>
          <p:cNvSpPr/>
          <p:nvPr/>
        </p:nvSpPr>
        <p:spPr>
          <a:xfrm>
            <a:off x="6903720" y="3310128"/>
            <a:ext cx="4736592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10789920" y="3566160"/>
            <a:ext cx="685800" cy="68580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68228" y="3744468"/>
            <a:ext cx="329184" cy="329184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7178040" y="349300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خريطة وملاحة</a:t>
            </a:r>
            <a:endParaRPr lang="ar-SA" sz="1800" dirty="0"/>
          </a:p>
        </p:txBody>
      </p:sp>
      <p:sp>
        <p:nvSpPr>
          <p:cNvPr id="30" name="Text 21"/>
          <p:cNvSpPr txBox="1"/>
          <p:nvPr/>
        </p:nvSpPr>
        <p:spPr>
          <a:xfrm>
            <a:off x="7178040" y="393192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أزرار مباشرة لـ Waze و-Google Maps للوصول إلى القاعة</a:t>
            </a:r>
            <a:endParaRPr lang="ar-SA" sz="1400" dirty="0"/>
          </a:p>
        </p:txBody>
      </p:sp>
      <p:sp>
        <p:nvSpPr>
          <p:cNvPr id="31" name="Shape 22"/>
          <p:cNvSpPr/>
          <p:nvPr/>
        </p:nvSpPr>
        <p:spPr>
          <a:xfrm>
            <a:off x="6903720" y="4882896"/>
            <a:ext cx="4736592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Shape 23"/>
          <p:cNvSpPr/>
          <p:nvPr/>
        </p:nvSpPr>
        <p:spPr>
          <a:xfrm>
            <a:off x="10789920" y="5138928"/>
            <a:ext cx="685800" cy="685800"/>
          </a:xfrm>
          <a:prstGeom prst="ellipse">
            <a:avLst/>
          </a:prstGeom>
          <a:solidFill>
            <a:srgbClr val="B07D2C"/>
          </a:solidFill>
          <a:ln w="12700">
            <a:solidFill>
              <a:srgbClr val="B07D2C"/>
            </a:solidFill>
            <a:prstDash val="solid"/>
          </a:ln>
        </p:spPr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68228" y="5317236"/>
            <a:ext cx="329184" cy="329184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7178040" y="5065776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المناسبات القادمة في القاعة</a:t>
            </a:r>
            <a:endParaRPr lang="ar-SA" sz="1800" dirty="0"/>
          </a:p>
        </p:txBody>
      </p:sp>
      <p:sp>
        <p:nvSpPr>
          <p:cNvPr id="35" name="Text 25"/>
          <p:cNvSpPr txBox="1"/>
          <p:nvPr/>
        </p:nvSpPr>
        <p:spPr>
          <a:xfrm>
            <a:off x="7178040" y="5504688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4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قائمة المناسبات المحجوزة، مرتبطة بتقويم الحجوزات</a:t>
            </a:r>
            <a:endParaRPr lang="ar-SA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rgbClr val="171C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يرى ماذا؟</a:t>
            </a:r>
            <a:endParaRPr lang="ar-SA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rgbClr val="5F66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مستخدم يرى فقط ما يخصه</a:t>
            </a:r>
            <a:endParaRPr lang="ar-SA" sz="17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4142232"/>
                <a:gridCol w="1737360"/>
                <a:gridCol w="1737360"/>
                <a:gridCol w="1737360"/>
                <a:gridCol w="1737360"/>
              </a:tblGrid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الميزة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C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المدعو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C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صاحب المناسبة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C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صاحب القاعة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C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مدير / أدمين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C2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171C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فتح الدعوة وتأكيد الحضور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171C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«دعواتي» – قائمة المناسبات المدعو إليها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171C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طلب فتح مناسبة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B9BE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171C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إحصائيات الردود وتصدير Excel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B9BE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B9BE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171C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تقويم الحجوزات وصفحة القاعة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B9BE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B9BE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2E8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1C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5029200" cy="5029200"/>
          </a:xfrm>
          <a:prstGeom prst="ellipse">
            <a:avLst/>
          </a:prstGeom>
          <a:solidFill>
            <a:srgbClr val="232A38"/>
          </a:solidFill>
          <a:ln w="12700">
            <a:solidFill>
              <a:srgbClr val="232A3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206240" y="1737360"/>
            <a:ext cx="7406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حمّلوا التطبيق الآن</a:t>
            </a:r>
            <a:endParaRPr lang="ar-SA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4206240" y="2743200"/>
            <a:ext cx="7406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dirty="0">
                <a:solidFill>
                  <a:srgbClr val="C9CF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امسحوا الرمز بكاميرا الهاتف – سينقلكم مباشرة إلى متجر التطبيقات المناسب (Android / iPhone)</a:t>
            </a:r>
            <a:endParaRPr lang="ar-SA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84048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8C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daawatey.com/get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493776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أسئلة؟ يسعدنا مساعدتكم</a:t>
            </a:r>
            <a:endParaRPr lang="ar-SA" sz="2200" dirty="0"/>
          </a:p>
        </p:txBody>
      </p:sp>
      <p:sp>
        <p:nvSpPr>
          <p:cNvPr id="7" name="Shape 5"/>
          <p:cNvSpPr/>
          <p:nvPr/>
        </p:nvSpPr>
        <p:spPr>
          <a:xfrm>
            <a:off x="822960" y="1554480"/>
            <a:ext cx="3017520" cy="301752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37360"/>
            <a:ext cx="2651760" cy="2651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دعوتي – طريقة استخدام التطبيق</dc:title>
  <dc:subject>PptxGenJS Presentation</dc:subject>
  <dc:creator>PptxGenJS</dc:creator>
  <cp:lastModifiedBy>PptxGenJS</cp:lastModifiedBy>
  <cp:revision>1</cp:revision>
  <dcterms:created xsi:type="dcterms:W3CDTF">2026-10-01T11:53:50Z</dcterms:created>
  <dcterms:modified xsi:type="dcterms:W3CDTF">2026-10-01T11:53:50Z</dcterms:modified>
</cp:coreProperties>
</file>